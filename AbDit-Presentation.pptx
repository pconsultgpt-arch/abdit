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4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8000" b="1">
                <a:solidFill>
                  <a:srgbClr val="FFFFFF"/>
                </a:solidFill>
                <a:latin typeface="Tahoma"/>
              </a:rPr>
              <a:t>💧 آبدیت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3000" b="0">
                <a:solidFill>
                  <a:srgbClr val="FFFFFF"/>
                </a:solidFill>
                <a:latin typeface="Tahoma"/>
              </a:rPr>
              <a:t>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200" b="0">
                <a:solidFill>
                  <a:srgbClr val="18B6C9"/>
                </a:solidFill>
                <a:latin typeface="Tahoma"/>
              </a:rPr>
              <a:t>آب کمتر · آگاهی بیشتر · آیندهٔ پایدارتر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FFFFFF"/>
                </a:solidFill>
                <a:latin typeface="Tahoma"/>
              </a:rPr>
              <a:t>نسخهٔ نمایشی برای ارائهٔ سرمایه‌گذاران و شرکت‌های آب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چالش بحران آب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چرا اکنون باید اقدام کنیم؟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3611880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000" b="1">
                <a:solidFill>
                  <a:srgbClr val="0B6E9C"/>
                </a:solidFill>
                <a:latin typeface="Tahoma"/>
              </a:rPr>
              <a:t>۲ میلیارد+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0">
                <a:solidFill>
                  <a:srgbClr val="1F2D3D"/>
                </a:solidFill>
                <a:latin typeface="Tahoma"/>
              </a:rPr>
              <a:t>نفر در جهان با تنش آبی روبه‌رویند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10312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2103120"/>
            <a:ext cx="3611880" cy="164592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2468880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000" b="1">
                <a:solidFill>
                  <a:srgbClr val="18B6C9"/>
                </a:solidFill>
                <a:latin typeface="Tahoma"/>
              </a:rPr>
              <a:t>۲۰ تا ۴۰٪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52044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0">
                <a:solidFill>
                  <a:srgbClr val="1F2D3D"/>
                </a:solidFill>
                <a:latin typeface="Tahoma"/>
              </a:rPr>
              <a:t>از مصرف خانگی غیرضروری است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103120"/>
            <a:ext cx="3611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103120"/>
            <a:ext cx="361188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2468880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000" b="1">
                <a:solidFill>
                  <a:srgbClr val="D9534F"/>
                </a:solidFill>
                <a:latin typeface="Tahoma"/>
              </a:rPr>
              <a:t>+۸۵٪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520440"/>
            <a:ext cx="3246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0">
                <a:solidFill>
                  <a:srgbClr val="1F2D3D"/>
                </a:solidFill>
                <a:latin typeface="Tahoma"/>
              </a:rPr>
              <a:t>افزایش تعرفه‌ها در دو دههٔ اخیر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1F2D3D"/>
                </a:solidFill>
                <a:latin typeface="Tahoma"/>
              </a:rPr>
              <a:t>آب در بسیاری از مناطق به یک دارایی استراتژیک تبدیل شده است.</a:t>
            </a:r>
          </a:p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مدیریت تقاضا، اکنون به اندازهٔ مدیریت عرضه اهمیت دارد.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مدل سنتی و محدودیت‌های آن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صورت‌حساب‌محور، نه راهکارمحور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81047" y="2194560"/>
            <a:ext cx="2377440" cy="914400"/>
          </a:xfrm>
          <a:prstGeom prst="round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FFFFFF"/>
                </a:solidFill>
                <a:latin typeface="Tahoma"/>
              </a:rPr>
              <a:t>قرائت کنتور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58487" y="2514600"/>
            <a:ext cx="548640" cy="274320"/>
          </a:xfrm>
          <a:prstGeom prst="rightArrow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194560"/>
            <a:ext cx="2377440" cy="914400"/>
          </a:xfrm>
          <a:prstGeom prst="round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FFFFFF"/>
                </a:solidFill>
                <a:latin typeface="Tahoma"/>
              </a:rPr>
              <a:t>صدور صورت‌حساب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84567" y="2514600"/>
            <a:ext cx="548640" cy="274320"/>
          </a:xfrm>
          <a:prstGeom prst="rightArrow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33207" y="2194560"/>
            <a:ext cx="2377440" cy="914400"/>
          </a:xfrm>
          <a:prstGeom prst="round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FFFFFF"/>
                </a:solidFill>
                <a:latin typeface="Tahoma"/>
              </a:rPr>
              <a:t>پرداخت توسط مشترک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074D6E"/>
                </a:solidFill>
                <a:latin typeface="Tahoma"/>
              </a:rPr>
              <a:t>محدودیت‌ها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800" b="0">
                <a:solidFill>
                  <a:srgbClr val="1F2D3D"/>
                </a:solidFill>
                <a:latin typeface="Tahoma"/>
              </a:rPr>
              <a:t>•  بدون تحلیل الگوی مصرف</a:t>
            </a:r>
          </a:p>
          <a:p>
            <a:pPr algn="r" rtl="1">
              <a:spcAft>
                <a:spcPts val="800"/>
              </a:spcAft>
            </a:pPr>
            <a:r>
              <a:rPr sz="1800" b="0">
                <a:solidFill>
                  <a:srgbClr val="1F2D3D"/>
                </a:solidFill>
                <a:latin typeface="Tahoma"/>
              </a:rPr>
              <a:t>•  بدون توصیه به مشترک برای کاهش مصرف</a:t>
            </a:r>
          </a:p>
          <a:p>
            <a:pPr algn="r" rtl="1">
              <a:spcAft>
                <a:spcPts val="800"/>
              </a:spcAft>
            </a:pPr>
            <a:r>
              <a:rPr sz="1800" b="0">
                <a:solidFill>
                  <a:srgbClr val="1F2D3D"/>
                </a:solidFill>
                <a:latin typeface="Tahoma"/>
              </a:rPr>
              <a:t>•  هدررفت آب اغلب نامرئی باقی می‌ماند</a:t>
            </a:r>
          </a:p>
          <a:p>
            <a:pPr algn="r" rtl="1">
              <a:spcAft>
                <a:spcPts val="800"/>
              </a:spcAft>
            </a:pPr>
            <a:r>
              <a:rPr sz="1800" b="0">
                <a:solidFill>
                  <a:srgbClr val="1F2D3D"/>
                </a:solidFill>
                <a:latin typeface="Tahoma"/>
              </a:rPr>
              <a:t>•  شرکت‌های آب فاقد ابزار مدیریت تقاضا هستند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معرفی آبدیت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پلتفرم واسط هوشمند برای کل اکوسیستم آب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074D6E"/>
                </a:solidFill>
                <a:latin typeface="Tahoma"/>
              </a:rPr>
              <a:t>آبدیت چیست؟</a:t>
            </a:r>
          </a:p>
          <a:p>
            <a:pPr algn="r" rtl="1">
              <a:spcAft>
                <a:spcPts val="600"/>
              </a:spcAft>
            </a:pPr>
            <a:r>
              <a:rPr sz="1700" b="0">
                <a:solidFill>
                  <a:srgbClr val="1F2D3D"/>
                </a:solidFill>
                <a:latin typeface="Tahoma"/>
              </a:rPr>
              <a:t>پلتفرمی که الگوی مصرف آب را تحلیل می‌کند و مشترکان را به متخصصان، تأمین‌کنندگان تجهیزات و مؤسسات آموزشی متصل می‌کند تا با راهکارهای واقعی، مصرف و هزینه را کاهش دهند.</a:t>
            </a:r>
          </a:p>
          <a:p>
            <a:pPr algn="r" rtl="1"/>
            <a:r>
              <a:rPr sz="1500" b="0">
                <a:solidFill>
                  <a:srgbClr val="6C7A89"/>
                </a:solidFill>
                <a:latin typeface="Tahoma"/>
              </a:rPr>
              <a:t>همان‌گونه که پلتفرم‌های اشتراک سفر رانندگان و مسافران را به هم می‌رسانند، آبدیت همهٔ ذی‌نفعان آب را در یک شبکه گرد می‌آورد.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2697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2697480" cy="137160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Tahoma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200" b="1">
                <a:solidFill>
                  <a:srgbClr val="074D6E"/>
                </a:solidFill>
                <a:latin typeface="Tahoma"/>
              </a:rPr>
              <a:t>تحلیل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6C7A89"/>
                </a:solidFill>
                <a:latin typeface="Tahoma"/>
              </a:rPr>
              <a:t>تشخیص الگوهای پرمصرف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657600"/>
            <a:ext cx="2697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3657600"/>
            <a:ext cx="2697480" cy="13716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931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Tahoma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66344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200" b="1">
                <a:solidFill>
                  <a:srgbClr val="074D6E"/>
                </a:solidFill>
                <a:latin typeface="Tahoma"/>
              </a:rPr>
              <a:t>توصیه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2064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6C7A89"/>
                </a:solidFill>
                <a:latin typeface="Tahoma"/>
              </a:rPr>
              <a:t>راهکارهای متناسب با هر خانوار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57600"/>
            <a:ext cx="2697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657600"/>
            <a:ext cx="2697480" cy="13716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931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Tahoma"/>
              </a:rPr>
              <a:t>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200" b="1">
                <a:solidFill>
                  <a:srgbClr val="074D6E"/>
                </a:solidFill>
                <a:latin typeface="Tahoma"/>
              </a:rPr>
              <a:t>تجهیز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12064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6C7A89"/>
                </a:solidFill>
                <a:latin typeface="Tahoma"/>
              </a:rPr>
              <a:t>بازارگاه محصولات بهینه‌مصرف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657600"/>
            <a:ext cx="2697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3657600"/>
            <a:ext cx="2697480" cy="13716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3931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Tahoma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66344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200" b="1">
                <a:solidFill>
                  <a:srgbClr val="074D6E"/>
                </a:solidFill>
                <a:latin typeface="Tahoma"/>
              </a:rPr>
              <a:t>یادگیری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12064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6C7A89"/>
                </a:solidFill>
                <a:latin typeface="Tahoma"/>
              </a:rPr>
              <a:t>بهبود مداوم با هر پروژه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ارزش پیشنهادی برای هر ذی‌نفع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چه چیزی هر طرف را به آبدیت متصل می‌کند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75720" y="1828800"/>
            <a:ext cx="164592" cy="777240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10927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01952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000" b="1">
                <a:solidFill>
                  <a:srgbClr val="0B6E9C"/>
                </a:solidFill>
                <a:latin typeface="Tahoma"/>
              </a:rPr>
              <a:t>مشترکان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93392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1F2D3D"/>
                </a:solidFill>
                <a:latin typeface="Tahoma"/>
              </a:rPr>
              <a:t>کاهش هزینه، آگاهی از الگوی مصرف، دسترسی به فناوری‌های روز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75720" y="2715768"/>
            <a:ext cx="164592" cy="77724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715768"/>
            <a:ext cx="10927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78892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000" b="1">
                <a:solidFill>
                  <a:srgbClr val="18B6C9"/>
                </a:solidFill>
                <a:latin typeface="Tahoma"/>
              </a:rPr>
              <a:t>شرکت‌های آب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1F2D3D"/>
                </a:solidFill>
                <a:latin typeface="Tahoma"/>
              </a:rPr>
              <a:t>مدیریت تقاضا، کاهش فشار بر زیرساخت، تعامل بهتر با مشترک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75720" y="3602736"/>
            <a:ext cx="164592" cy="77724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602736"/>
            <a:ext cx="10927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675888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000" b="1">
                <a:solidFill>
                  <a:srgbClr val="5CB85C"/>
                </a:solidFill>
                <a:latin typeface="Tahoma"/>
              </a:rPr>
              <a:t>متخصصان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67328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1F2D3D"/>
                </a:solidFill>
                <a:latin typeface="Tahoma"/>
              </a:rPr>
              <a:t>بازار کار جدید، ابزار مدیریت پروژه، اعتبار حرفه‌ای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75720" y="4489704"/>
            <a:ext cx="164592" cy="77724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489704"/>
            <a:ext cx="10927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562856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000" b="1">
                <a:solidFill>
                  <a:srgbClr val="F0AD4E"/>
                </a:solidFill>
                <a:latin typeface="Tahoma"/>
              </a:rPr>
              <a:t>تأمین‌کنندگان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54296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1F2D3D"/>
                </a:solidFill>
                <a:latin typeface="Tahoma"/>
              </a:rPr>
              <a:t>دسترسی به تقاضای هدفمند، بازار جدید، داده‌های عملکرد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75720" y="5376672"/>
            <a:ext cx="164592" cy="7772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376672"/>
            <a:ext cx="1092708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5449824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000" b="1">
                <a:solidFill>
                  <a:srgbClr val="D9534F"/>
                </a:solidFill>
                <a:latin typeface="Tahoma"/>
              </a:rPr>
              <a:t>مؤسسات آموزشی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41264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1F2D3D"/>
                </a:solidFill>
                <a:latin typeface="Tahoma"/>
              </a:rPr>
              <a:t>برنامه‌های گواهی‌نامه، بازار شغلی برای فارغ‌التحصیلان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روند کار آبدیت — هفت گام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از داده تا صرفه‌جویی تأییدشده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327" y="2286000"/>
            <a:ext cx="731520" cy="73152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567" y="22860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567" y="3063240"/>
            <a:ext cx="14630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287" y="315468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074D6E"/>
                </a:solidFill>
                <a:latin typeface="Tahoma"/>
              </a:rPr>
              <a:t>گردآوری
داده</a:t>
            </a:r>
          </a:p>
        </p:txBody>
      </p:sp>
      <p:sp>
        <p:nvSpPr>
          <p:cNvPr id="14" name="Oval 13"/>
          <p:cNvSpPr/>
          <p:nvPr/>
        </p:nvSpPr>
        <p:spPr>
          <a:xfrm>
            <a:off x="2438247" y="2286000"/>
            <a:ext cx="731520" cy="73152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2487" y="22860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2487" y="3063240"/>
            <a:ext cx="14630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18207" y="315468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074D6E"/>
                </a:solidFill>
                <a:latin typeface="Tahoma"/>
              </a:rPr>
              <a:t>تحلیل
مصرف</a:t>
            </a:r>
          </a:p>
        </p:txBody>
      </p:sp>
      <p:sp>
        <p:nvSpPr>
          <p:cNvPr id="18" name="Oval 17"/>
          <p:cNvSpPr/>
          <p:nvPr/>
        </p:nvSpPr>
        <p:spPr>
          <a:xfrm>
            <a:off x="4084167" y="2286000"/>
            <a:ext cx="731520" cy="73152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8407" y="22860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8407" y="3063240"/>
            <a:ext cx="14630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64127" y="315468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074D6E"/>
                </a:solidFill>
                <a:latin typeface="Tahoma"/>
              </a:rPr>
              <a:t>اعلان به
مشترک</a:t>
            </a:r>
          </a:p>
        </p:txBody>
      </p:sp>
      <p:sp>
        <p:nvSpPr>
          <p:cNvPr id="22" name="Oval 21"/>
          <p:cNvSpPr/>
          <p:nvPr/>
        </p:nvSpPr>
        <p:spPr>
          <a:xfrm>
            <a:off x="5730087" y="2286000"/>
            <a:ext cx="731520" cy="73152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4327" y="22860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64327" y="3063240"/>
            <a:ext cx="14630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047" y="315468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074D6E"/>
                </a:solidFill>
                <a:latin typeface="Tahoma"/>
              </a:rPr>
              <a:t>بازرسی
متخصص</a:t>
            </a:r>
          </a:p>
        </p:txBody>
      </p:sp>
      <p:sp>
        <p:nvSpPr>
          <p:cNvPr id="26" name="Oval 25"/>
          <p:cNvSpPr/>
          <p:nvPr/>
        </p:nvSpPr>
        <p:spPr>
          <a:xfrm>
            <a:off x="7376007" y="2286000"/>
            <a:ext cx="731520" cy="73152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0247" y="22860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10247" y="3063240"/>
            <a:ext cx="14630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5967" y="315468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074D6E"/>
                </a:solidFill>
                <a:latin typeface="Tahoma"/>
              </a:rPr>
              <a:t>پیش‌فاکتور
و پیشنهاد</a:t>
            </a:r>
          </a:p>
        </p:txBody>
      </p:sp>
      <p:sp>
        <p:nvSpPr>
          <p:cNvPr id="30" name="Oval 29"/>
          <p:cNvSpPr/>
          <p:nvPr/>
        </p:nvSpPr>
        <p:spPr>
          <a:xfrm>
            <a:off x="9021927" y="2286000"/>
            <a:ext cx="731520" cy="73152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6167" y="22860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6167" y="3063240"/>
            <a:ext cx="14630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1887" y="315468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074D6E"/>
                </a:solidFill>
                <a:latin typeface="Tahoma"/>
              </a:rPr>
              <a:t>نصب
تجهیزات</a:t>
            </a:r>
          </a:p>
        </p:txBody>
      </p:sp>
      <p:sp>
        <p:nvSpPr>
          <p:cNvPr id="34" name="Oval 33"/>
          <p:cNvSpPr/>
          <p:nvPr/>
        </p:nvSpPr>
        <p:spPr>
          <a:xfrm>
            <a:off x="10667847" y="2286000"/>
            <a:ext cx="731520" cy="73152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02087" y="2286000"/>
            <a:ext cx="1463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02087" y="3063240"/>
            <a:ext cx="14630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47807" y="3154680"/>
            <a:ext cx="1371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074D6E"/>
                </a:solidFill>
                <a:latin typeface="Tahoma"/>
              </a:rPr>
              <a:t>بازخورد
و یادگیری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0">
                <a:solidFill>
                  <a:srgbClr val="6C7A89"/>
                </a:solidFill>
                <a:latin typeface="Tahoma"/>
              </a:rPr>
              <a:t>هر پروژهٔ تأییدشده، دانش را به موتور تحلیل بازمی‌گرداند تا توصیه‌های آینده دقیق‌تر شوند.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937760"/>
            <a:ext cx="3611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937760"/>
            <a:ext cx="3611880" cy="109728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102352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0B6E9C"/>
                </a:solidFill>
                <a:latin typeface="Tahoma"/>
              </a:rPr>
              <a:t>ورودی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440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1F2D3D"/>
                </a:solidFill>
                <a:latin typeface="Tahoma"/>
              </a:rPr>
              <a:t>قرائت کنتور · ویژگی‌های خانوار · دادهٔ منطقه‌ای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4937760"/>
            <a:ext cx="3611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4937760"/>
            <a:ext cx="3611880" cy="109728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5102352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18B6C9"/>
                </a:solidFill>
                <a:latin typeface="Tahoma"/>
              </a:rPr>
              <a:t>هستهٔ تحلیل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440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1F2D3D"/>
                </a:solidFill>
                <a:latin typeface="Tahoma"/>
              </a:rPr>
              <a:t>آمار · یادگیری ماشین · پایگاه دانش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937760"/>
            <a:ext cx="36118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0" y="4937760"/>
            <a:ext cx="3611880" cy="109728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80" y="5102352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>
                <a:solidFill>
                  <a:srgbClr val="5CB85C"/>
                </a:solidFill>
                <a:latin typeface="Tahoma"/>
              </a:rPr>
              <a:t>خروجی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544068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1F2D3D"/>
                </a:solidFill>
                <a:latin typeface="Tahoma"/>
              </a:rPr>
              <a:t>هشدار به مشترک · بازرسی · توصیهٔ تجهیز · صرفه‌جویی واقعی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گام‌های ۱ تا ۳ — از داده تا اعلان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تحلیل خودکار، شناسایی ناهنجاری، اطلاع‌رسانی به مشترک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0" y="1920240"/>
            <a:ext cx="201168" cy="1371600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0B6E9C"/>
                </a:solidFill>
                <a:latin typeface="Tahoma"/>
              </a:rPr>
              <a:t>۱  گردآوری داده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1F2D3D"/>
                </a:solidFill>
                <a:latin typeface="Tahoma"/>
              </a:rPr>
              <a:t>قرائت‌های کنتور، تاریخچهٔ صورت‌حساب‌ها، موقعیت مکانی و روند مصرف از شرکت آب وارد موتور تحلیل می‌شود.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0" y="3520440"/>
            <a:ext cx="201168" cy="137160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18B6C9"/>
                </a:solidFill>
                <a:latin typeface="Tahoma"/>
              </a:rPr>
              <a:t>۲  تحلیل مصرف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1F2D3D"/>
                </a:solidFill>
                <a:latin typeface="Tahoma"/>
              </a:rPr>
              <a:t>ترکیبی از مدل‌های آماری، یادگیری ماشین و مقایسه با خانوارهای مشابه؛ هر مصرف غیرعادی با درجهٔ شدت کم/متوسط/زیاد علامت‌گذاری می‌شود.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0" y="5120640"/>
            <a:ext cx="201168" cy="137160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5CB85C"/>
                </a:solidFill>
                <a:latin typeface="Tahoma"/>
              </a:rPr>
              <a:t>۳  اعلان به مشترک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500" b="0">
                <a:solidFill>
                  <a:srgbClr val="1F2D3D"/>
                </a:solidFill>
                <a:latin typeface="Tahoma"/>
              </a:rPr>
              <a:t>مشترک هشدار همراه با توضیح علمی الگو دریافت می‌کند و می‌تواند با یک کلیک، درخواست بازرسی رایگان دهد. مشارکت کاملاً اختیاری است.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گام‌های ۴ تا ۷ — از بازرسی تا یادگیری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اجرای واقعی راهکار و بازخورد به سامانه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0" y="1920240"/>
            <a:ext cx="201168" cy="1005840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299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B6E9C"/>
                </a:solidFill>
                <a:latin typeface="Tahoma"/>
              </a:rPr>
              <a:t>۴  بازرسی متخصص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متخصص دارای گواهی به محل می‌رود؛ لوله‌کشی، آبیاری، مصرف داخلی و نشت‌ها را بررسی می‌کند.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0672"/>
            <a:ext cx="11064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0" y="3090672"/>
            <a:ext cx="201168" cy="100584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18B6C9"/>
                </a:solidFill>
                <a:latin typeface="Tahoma"/>
              </a:rPr>
              <a:t>۵  پیش‌فاکتور و پیشنهاد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935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گزارش فنی همراه با محصولات پیشنهادی از بازارگاه و برآورد صرفه‌جویی برای مشترک ارسال می‌شود.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61104"/>
            <a:ext cx="11064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0" y="4261104"/>
            <a:ext cx="201168" cy="100584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7083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5CB85C"/>
                </a:solidFill>
                <a:latin typeface="Tahoma"/>
              </a:rPr>
              <a:t>۶  نصب تجهیزات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64024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در صورت پذیرش، تأمین‌کنندگان تجهیزات را تأمین کرده و متخصصان دارای گواهی نصب می‌کنند.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31536"/>
            <a:ext cx="11064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5431536"/>
            <a:ext cx="201168" cy="100584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41264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F0AD4E"/>
                </a:solidFill>
                <a:latin typeface="Tahoma"/>
              </a:rPr>
              <a:t>۷  بازخورد و یادگیری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3445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صرفه‌جویی واقعی پس از نصب اندازه‌گیری و به پایگاه دانش بازگردانده می‌شود تا توصیه‌های آینده دقیق‌تر شوند.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ذی‌نفعان آبدیت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پنج طرف، یک شبکه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21224" y="3246120"/>
            <a:ext cx="1737360" cy="1737360"/>
          </a:xfrm>
          <a:prstGeom prst="ellipse">
            <a:avLst/>
          </a:prstGeom>
          <a:solidFill>
            <a:srgbClr val="07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3794760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200" b="1">
                <a:solidFill>
                  <a:srgbClr val="FFFFFF"/>
                </a:solidFill>
                <a:latin typeface="Tahoma"/>
              </a:rPr>
              <a:t>آبدیت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554480"/>
            <a:ext cx="1645920" cy="164592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مشترکان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2377440"/>
            <a:ext cx="3895344" cy="1737360"/>
          </a:xfrm>
          <a:prstGeom prst="line">
            <a:avLst/>
          </a:prstGeom>
          <a:ln w="1524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144000" y="1554480"/>
            <a:ext cx="1645920" cy="1645920"/>
          </a:xfrm>
          <a:prstGeom prst="ellipse">
            <a:avLst/>
          </a:prstGeom>
          <a:solidFill>
            <a:srgbClr val="18B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شرکت‌های آب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089904" y="2377440"/>
            <a:ext cx="3877056" cy="1737360"/>
          </a:xfrm>
          <a:prstGeom prst="line">
            <a:avLst/>
          </a:prstGeom>
          <a:ln w="1524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48640" y="4114800"/>
            <a:ext cx="1645920" cy="1645920"/>
          </a:xfrm>
          <a:prstGeom prst="ellipse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متخصصان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371600" y="4114800"/>
            <a:ext cx="4718304" cy="822960"/>
          </a:xfrm>
          <a:prstGeom prst="line">
            <a:avLst/>
          </a:prstGeom>
          <a:ln w="1524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875520" y="4114800"/>
            <a:ext cx="1645920" cy="1645920"/>
          </a:xfrm>
          <a:prstGeom prst="ellipse">
            <a:avLst/>
          </a:prstGeom>
          <a:solidFill>
            <a:srgbClr val="F0A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466344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تأمین‌کنندگان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6089904" y="4114800"/>
            <a:ext cx="4608576" cy="822960"/>
          </a:xfrm>
          <a:prstGeom prst="line">
            <a:avLst/>
          </a:prstGeom>
          <a:ln w="1524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352544" y="5029200"/>
            <a:ext cx="1645920" cy="164592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2544" y="557784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مؤسسات آموزشی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175504" y="4114800"/>
            <a:ext cx="914400" cy="1737360"/>
          </a:xfrm>
          <a:prstGeom prst="line">
            <a:avLst/>
          </a:prstGeom>
          <a:ln w="1524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اجزای فنی سامانه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موتور تحلیل، پایگاه دانش، پورتال‌های نقش‌محور و بازارگاه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0575" y="1920240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0575" y="1920240"/>
            <a:ext cx="3657600" cy="109728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455" y="20848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موتور تحلیل داده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455" y="256032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تشخیص الگو · ناهنجاری · مقایسهٔ همتا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047" y="1920240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1920240"/>
            <a:ext cx="3657600" cy="109728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9927" y="20848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پایگاه دانش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9927" y="256032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راهکارها · مطالعات موردی · بهترین تجربه‌های منطقه‌ای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3519" y="1920240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3519" y="1920240"/>
            <a:ext cx="3657600" cy="109728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6399" y="20848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پورتال مشترک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6399" y="256032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نمای مصرف · اعلان · درخواست بازرسی · پاسخ به پیش‌فاکتور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575" y="3639312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0575" y="3639312"/>
            <a:ext cx="3657600" cy="109728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455" y="3803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پورتال متخصص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55" y="4279392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دریافت کار · ثبت گزارش · ساخت پیشنهاد · پیگیری نصب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7047" y="3639312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047" y="3639312"/>
            <a:ext cx="3657600" cy="109728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9927" y="3803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بازارگاه تأمین‌کنندگان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9927" y="4279392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ثبت محصول · قیمت‌گذاری · ادغام با خدمات نصب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3519" y="3639312"/>
            <a:ext cx="3657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3519" y="3639312"/>
            <a:ext cx="3657600" cy="109728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6399" y="380390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داشبورد شرکت آب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6399" y="4279392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روند مصرف · ناهنجاری‌ها · مدیریت تقاضا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بازارگاه تجهیزات بهینه‌مصرف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شش دستهٔ کلیدی، تأمین‌کنندگان متعدد، کیفیت تأییدشده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0575" y="1920240"/>
            <a:ext cx="36576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55" y="210312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>
                <a:solidFill>
                  <a:srgbClr val="1F2D3D"/>
                </a:solidFill>
                <a:latin typeface="Tahoma"/>
              </a:rPr>
              <a:t>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6415" y="20848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آبیاری هوشمند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455" y="27889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6C7A89"/>
                </a:solidFill>
                <a:latin typeface="Tahoma"/>
              </a:rPr>
              <a:t>کنترلر مبتنی بر شرایط جوی · حسگر رطوبت خاک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047" y="1920240"/>
            <a:ext cx="36576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9927" y="210312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>
                <a:solidFill>
                  <a:srgbClr val="1F2D3D"/>
                </a:solidFill>
                <a:latin typeface="Tahoma"/>
              </a:rPr>
              <a:t>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2887" y="20848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شیرآلات و دوش کم‌مصرف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9927" y="27889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6C7A89"/>
                </a:solidFill>
                <a:latin typeface="Tahoma"/>
              </a:rPr>
              <a:t>هوادهنده · دوش‌های ۴-۶ لیتری در دقیقه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3519" y="1920240"/>
            <a:ext cx="36576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6399" y="210312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>
                <a:solidFill>
                  <a:srgbClr val="1F2D3D"/>
                </a:solidFill>
                <a:latin typeface="Tahoma"/>
              </a:rPr>
              <a:t>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9359" y="208483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نشت‌یاب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6399" y="278892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6C7A89"/>
                </a:solidFill>
                <a:latin typeface="Tahoma"/>
              </a:rPr>
              <a:t>تشخیص صوتی · قطع خودکار جریان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575" y="3611880"/>
            <a:ext cx="36576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455" y="379476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>
                <a:solidFill>
                  <a:srgbClr val="1F2D3D"/>
                </a:solidFill>
                <a:latin typeface="Tahoma"/>
              </a:rPr>
              <a:t>♻️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6415" y="377647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بازچرخانی آب خاکستری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455" y="44805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6C7A89"/>
                </a:solidFill>
                <a:latin typeface="Tahoma"/>
              </a:rPr>
              <a:t>استفادهٔ مجدد در فلاش و آبیاری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7047" y="3611880"/>
            <a:ext cx="36576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9927" y="379476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>
                <a:solidFill>
                  <a:srgbClr val="1F2D3D"/>
                </a:solidFill>
                <a:latin typeface="Tahoma"/>
              </a:rPr>
              <a:t>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2887" y="377647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کنتور هوشمند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9927" y="44805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6C7A89"/>
                </a:solidFill>
                <a:latin typeface="Tahoma"/>
              </a:rPr>
              <a:t>گزارش لحظه‌ای · هشدار نشت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3519" y="3611880"/>
            <a:ext cx="36576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6399" y="379476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0">
                <a:solidFill>
                  <a:srgbClr val="1F2D3D"/>
                </a:solidFill>
                <a:latin typeface="Tahoma"/>
              </a:rPr>
              <a:t>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9359" y="3776472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کنترل کیفیت آب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6399" y="44805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6C7A89"/>
                </a:solidFill>
                <a:latin typeface="Tahoma"/>
              </a:rPr>
              <a:t>حسگرهای کیفیت · پایش پیوسته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حلقهٔ یادگیری مداوم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هر پروژه، توصیه‌های آینده را دقیق‌تر می‌کند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17320"/>
            <a:ext cx="1920240" cy="1920240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1">
                <a:solidFill>
                  <a:srgbClr val="FFFFFF"/>
                </a:solidFill>
                <a:latin typeface="Tahoma"/>
              </a:rPr>
              <a:t>داده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FFFFFF"/>
                </a:solidFill>
                <a:latin typeface="Tahoma"/>
              </a:rPr>
              <a:t>قرائت کنتور · ویژگی‌های خانوار</a:t>
            </a:r>
          </a:p>
        </p:txBody>
      </p:sp>
      <p:sp>
        <p:nvSpPr>
          <p:cNvPr id="13" name="Oval 12"/>
          <p:cNvSpPr/>
          <p:nvPr/>
        </p:nvSpPr>
        <p:spPr>
          <a:xfrm>
            <a:off x="5440680" y="1417320"/>
            <a:ext cx="1920240" cy="1920240"/>
          </a:xfrm>
          <a:prstGeom prst="ellipse">
            <a:avLst/>
          </a:prstGeom>
          <a:solidFill>
            <a:srgbClr val="18B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0116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1">
                <a:solidFill>
                  <a:srgbClr val="FFFFFF"/>
                </a:solidFill>
                <a:latin typeface="Tahoma"/>
              </a:rPr>
              <a:t>تحلیل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7744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FFFFFF"/>
                </a:solidFill>
                <a:latin typeface="Tahoma"/>
              </a:rPr>
              <a:t>آمار · یادگیری ماشین · پایگاه دانش</a:t>
            </a:r>
          </a:p>
        </p:txBody>
      </p:sp>
      <p:sp>
        <p:nvSpPr>
          <p:cNvPr id="16" name="Oval 15"/>
          <p:cNvSpPr/>
          <p:nvPr/>
        </p:nvSpPr>
        <p:spPr>
          <a:xfrm>
            <a:off x="9098280" y="3154680"/>
            <a:ext cx="1920240" cy="1920240"/>
          </a:xfrm>
          <a:prstGeom prst="ellipse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7490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1">
                <a:solidFill>
                  <a:srgbClr val="FFFFFF"/>
                </a:solidFill>
                <a:latin typeface="Tahoma"/>
              </a:rPr>
              <a:t>اقدام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11480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FFFFFF"/>
                </a:solidFill>
                <a:latin typeface="Tahoma"/>
              </a:rPr>
              <a:t>بازرسی · توصیه · نصب</a:t>
            </a:r>
          </a:p>
        </p:txBody>
      </p:sp>
      <p:sp>
        <p:nvSpPr>
          <p:cNvPr id="19" name="Oval 18"/>
          <p:cNvSpPr/>
          <p:nvPr/>
        </p:nvSpPr>
        <p:spPr>
          <a:xfrm>
            <a:off x="5440680" y="4526280"/>
            <a:ext cx="1920240" cy="1920240"/>
          </a:xfrm>
          <a:prstGeom prst="ellipse">
            <a:avLst/>
          </a:prstGeom>
          <a:solidFill>
            <a:srgbClr val="F0A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51206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1">
                <a:solidFill>
                  <a:srgbClr val="FFFFFF"/>
                </a:solidFill>
                <a:latin typeface="Tahoma"/>
              </a:rPr>
              <a:t>بازخورد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FFFFFF"/>
                </a:solidFill>
                <a:latin typeface="Tahoma"/>
              </a:rPr>
              <a:t>صرفه‌جویی واقعی پس از نصب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3154680"/>
            <a:ext cx="1920240" cy="1920240"/>
          </a:xfrm>
          <a:prstGeom prst="ellipse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4904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1">
                <a:solidFill>
                  <a:srgbClr val="FFFFFF"/>
                </a:solidFill>
                <a:latin typeface="Tahoma"/>
              </a:rPr>
              <a:t>به‌روزرسانی دانش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1480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>
                <a:solidFill>
                  <a:srgbClr val="FFFFFF"/>
                </a:solidFill>
                <a:latin typeface="Tahoma"/>
              </a:rPr>
              <a:t>افزایش دقت توصیه‌ها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28800" y="2377440"/>
            <a:ext cx="4572000" cy="0"/>
          </a:xfrm>
          <a:prstGeom prst="line">
            <a:avLst/>
          </a:prstGeom>
          <a:ln w="2540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00800" y="2377440"/>
            <a:ext cx="3657600" cy="1737360"/>
          </a:xfrm>
          <a:prstGeom prst="line">
            <a:avLst/>
          </a:prstGeom>
          <a:ln w="2540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400800" y="4114800"/>
            <a:ext cx="3657600" cy="1371600"/>
          </a:xfrm>
          <a:prstGeom prst="line">
            <a:avLst/>
          </a:prstGeom>
          <a:ln w="2540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828800" y="4114800"/>
            <a:ext cx="4572000" cy="1371600"/>
          </a:xfrm>
          <a:prstGeom prst="line">
            <a:avLst/>
          </a:prstGeom>
          <a:ln w="2540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828800" y="2377440"/>
            <a:ext cx="0" cy="1737360"/>
          </a:xfrm>
          <a:prstGeom prst="line">
            <a:avLst/>
          </a:prstGeom>
          <a:ln w="25400">
            <a:solidFill>
              <a:srgbClr val="6C7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داشبوردهای نمونه — نسخهٔ نمایشی زنده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آنچه هر نقش هنگام ورود می‌بیند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B6E9C"/>
                </a:solidFill>
                <a:latin typeface="Tahoma"/>
              </a:rPr>
              <a:t>داشبورد مشترک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468880"/>
            <a:ext cx="2194560" cy="777240"/>
          </a:xfrm>
          <a:prstGeom prst="round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514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آخرین صورت‌حساب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۸۹٫۲۰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468880"/>
            <a:ext cx="2194560" cy="777240"/>
          </a:xfrm>
          <a:prstGeom prst="round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514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روند نسبت به ماه قبل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+۳۲٪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337560"/>
            <a:ext cx="2194560" cy="777240"/>
          </a:xfrm>
          <a:prstGeom prst="round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3832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مصرف سالانه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03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۲۸۸ مترمکعب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337560"/>
            <a:ext cx="2194560" cy="777240"/>
          </a:xfrm>
          <a:prstGeom prst="round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3832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هشدار خوانده‌نشده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703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9768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6C7A89"/>
                </a:solidFill>
                <a:latin typeface="Tahoma"/>
              </a:rPr>
              <a:t>نمودار مصرف ۱۲ ماهه + لیست بازرسی‌ها + اعلان‌های فعال</a:t>
            </a:r>
          </a:p>
          <a:p>
            <a:pPr algn="r" rtl="1"/>
            <a:r>
              <a:rPr sz="1300" b="0">
                <a:solidFill>
                  <a:srgbClr val="5CB85C"/>
                </a:solidFill>
                <a:latin typeface="Tahoma"/>
              </a:rPr>
              <a:t>اقدام یک‌کلیکی: «درخواست بازرسی»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82880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18B6C9"/>
                </a:solidFill>
                <a:latin typeface="Tahoma"/>
              </a:rPr>
              <a:t>نمای کلی اپراتور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2468880"/>
            <a:ext cx="2194560" cy="777240"/>
          </a:xfrm>
          <a:prstGeom prst="round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2514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مشترکان فعال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۱٬۲۸۰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2468880"/>
            <a:ext cx="2194560" cy="777240"/>
          </a:xfrm>
          <a:prstGeom prst="round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2514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متخصصان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۲۴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337560"/>
            <a:ext cx="2194560" cy="777240"/>
          </a:xfrm>
          <a:prstGeom prst="round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3832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ناهنجاری‌های باز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703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۸۷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3337560"/>
            <a:ext cx="2194560" cy="777240"/>
          </a:xfrm>
          <a:prstGeom prst="round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3832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میانگین صرفه‌جویی تأییدشده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7033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۲۳٫۵٪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9768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6C7A89"/>
                </a:solidFill>
                <a:latin typeface="Tahoma"/>
              </a:rPr>
              <a:t>روند بازرسی‌ها · صرفه‌جویی تأییدشده · پایگاه دانش زنده</a:t>
            </a:r>
          </a:p>
          <a:p>
            <a:pPr algn="r" rtl="1"/>
            <a:r>
              <a:rPr sz="1300" b="0">
                <a:solidFill>
                  <a:srgbClr val="5CB85C"/>
                </a:solidFill>
                <a:latin typeface="Tahoma"/>
              </a:rPr>
              <a:t>اجرای دوبارهٔ تحلیل با یک کلیک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نتایج مورد انتظار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ارقام بر اساس مطالعات موردی و پایگاه دانش آبدیت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3999" y="2286000"/>
            <a:ext cx="2697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3999" y="2286000"/>
            <a:ext cx="2697480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999" y="2697480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000" b="1">
                <a:solidFill>
                  <a:srgbClr val="0B6E9C"/>
                </a:solidFill>
                <a:latin typeface="Tahoma"/>
              </a:rPr>
              <a:t>۱۵–۳۰٪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159" y="37033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1F2D3D"/>
                </a:solidFill>
                <a:latin typeface="Tahoma"/>
              </a:rPr>
              <a:t>کاهش معمول مصرف خانوارهای پُرمصرف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6071" y="2286000"/>
            <a:ext cx="2697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6071" y="2286000"/>
            <a:ext cx="2697480" cy="164592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6071" y="2697480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000" b="1">
                <a:solidFill>
                  <a:srgbClr val="18B6C9"/>
                </a:solidFill>
                <a:latin typeface="Tahoma"/>
              </a:rPr>
              <a:t>۲۲٪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3231" y="37033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1F2D3D"/>
                </a:solidFill>
                <a:latin typeface="Tahoma"/>
              </a:rPr>
              <a:t>میانگین صرفه‌جویی پس از اصلاح نشت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2286000"/>
            <a:ext cx="2697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2286000"/>
            <a:ext cx="2697480" cy="164592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8143" y="2697480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000" b="1">
                <a:solidFill>
                  <a:srgbClr val="5CB85C"/>
                </a:solidFill>
                <a:latin typeface="Tahoma"/>
              </a:rPr>
              <a:t>&lt; ۶ ماه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303" y="37033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1F2D3D"/>
                </a:solidFill>
                <a:latin typeface="Tahoma"/>
              </a:rPr>
              <a:t>بازگشت سرمایهٔ هوادهنده‌های شیرآلات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0215" y="2286000"/>
            <a:ext cx="26974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0215" y="2286000"/>
            <a:ext cx="2697480" cy="164592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0215" y="2697480"/>
            <a:ext cx="2697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000" b="1">
                <a:solidFill>
                  <a:srgbClr val="F0AD4E"/>
                </a:solidFill>
                <a:latin typeface="Tahoma"/>
              </a:rPr>
              <a:t>۲۸٪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7375" y="370332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1F2D3D"/>
                </a:solidFill>
                <a:latin typeface="Tahoma"/>
              </a:rPr>
              <a:t>کاهش مصرف آب آشامیدنی با بازچرخانی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0">
                <a:solidFill>
                  <a:srgbClr val="6C7A89"/>
                </a:solidFill>
                <a:latin typeface="Tahoma"/>
              </a:rPr>
              <a:t>هر مدخل پایگاه دانش با تعداد پروژه‌های انجام‌شده ارزش‌گذاری می‌شود؛ ارقام با گذشت زمان دقیق‌تر می‌شوند.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مدل کسب‌وکار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چندین جریان درآمد، هم‌راستا با ارزش ایجادشده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0" y="1920240"/>
            <a:ext cx="201168" cy="777240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57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B6E9C"/>
                </a:solidFill>
                <a:latin typeface="Tahoma"/>
              </a:rPr>
              <a:t>کمیسیون فروش تجهیزات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2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درصدی از فروش هر کالای موفق در بازارگاه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16352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0" y="2816352"/>
            <a:ext cx="201168" cy="77724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95351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18B6C9"/>
                </a:solidFill>
                <a:latin typeface="Tahoma"/>
              </a:rPr>
              <a:t>هزینهٔ بازرسی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80944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حق‌الزحمهٔ هر بازرسی موفق توسط متخصص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12464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0" y="3712464"/>
            <a:ext cx="201168" cy="77724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84962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5CB85C"/>
                </a:solidFill>
                <a:latin typeface="Tahoma"/>
              </a:rPr>
              <a:t>اشتراک تأمین‌کنندگان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77056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حضور در بازارگاه · ابزار مدیریت محصول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08576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4608576"/>
            <a:ext cx="201168" cy="77724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74573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F0AD4E"/>
                </a:solidFill>
                <a:latin typeface="Tahoma"/>
              </a:rPr>
              <a:t>خدمات تحلیل برای شرکت‌های آب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73168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گزارش مدیریت تقاضا · مشاورهٔ تخصصی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04688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0" y="5504688"/>
            <a:ext cx="201168" cy="7772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564184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D9534F"/>
                </a:solidFill>
                <a:latin typeface="Tahoma"/>
              </a:rPr>
              <a:t>همکاری با مراکز آموزشی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صدور گواهی متخصصان · تأمین کاندیداها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نقشهٔ راه آینده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از نمونهٔ نمایشی تا سامانهٔ کشوری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2194560" cy="365760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اکنون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1F2D3D"/>
                </a:solidFill>
                <a:latin typeface="Tahoma"/>
              </a:rPr>
              <a:t>نمونهٔ نمایشی کامل با تمام نقش‌ها و گردش‌کار هفت‌مرحله‌ای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37744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1800" y="2377440"/>
            <a:ext cx="2194560" cy="36576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4231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سه‌ماهه 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92608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1F2D3D"/>
                </a:solidFill>
                <a:latin typeface="Tahoma"/>
              </a:rPr>
              <a:t>ادغام با کنتورهای هوشمند · هشدار آنی نشت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37744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2377440"/>
            <a:ext cx="2194560" cy="365760"/>
          </a:xfrm>
          <a:prstGeom prst="rect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4231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سه‌ماهه 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92608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1F2D3D"/>
                </a:solidFill>
                <a:latin typeface="Tahoma"/>
              </a:rPr>
              <a:t>مدل پیش‌بینی تقاضا با هوش مصنوعی · نسخهٔ موبایل متخصص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37744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2377440"/>
            <a:ext cx="2194560" cy="365760"/>
          </a:xfrm>
          <a:prstGeom prst="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4231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سه‌ماهه 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92608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1F2D3D"/>
                </a:solidFill>
                <a:latin typeface="Tahoma"/>
              </a:rPr>
              <a:t>ادغام با خانهٔ هوشمند · پرداخت آنلاین پیشنهادها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377440"/>
            <a:ext cx="21945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377440"/>
            <a:ext cx="2194560" cy="3657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4231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Tahoma"/>
              </a:rPr>
              <a:t>سه‌ماهه 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926080"/>
            <a:ext cx="1920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>
                <a:solidFill>
                  <a:srgbClr val="1F2D3D"/>
                </a:solidFill>
                <a:latin typeface="Tahoma"/>
              </a:rPr>
              <a:t>ابزار برنامه‌ریزی منطقه‌ای برای دولت‌های محلی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074D6E"/>
                </a:solidFill>
                <a:latin typeface="Tahoma"/>
              </a:rPr>
              <a:t>چرا آبدیت برنده می‌شود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>
                <a:solidFill>
                  <a:srgbClr val="6C7A89"/>
                </a:solidFill>
                <a:latin typeface="Tahoma"/>
              </a:rPr>
              <a:t>ترکیبی از داده، شبکه، و یادگیری مداوم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98480" y="1097280"/>
            <a:ext cx="1097280" cy="45720"/>
          </a:xfrm>
          <a:prstGeom prst="rect">
            <a:avLst/>
          </a:prstGeom>
          <a:solidFill>
            <a:srgbClr val="18B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80192" y="2075688"/>
            <a:ext cx="585216" cy="585216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0" y="207568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30552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از داده تا اقدام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67128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توصیهٔ مبتنی بر داده، نه پوستر و توصیه‌های کلی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34640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80192" y="2898648"/>
            <a:ext cx="585216" cy="585216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289864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53512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شبکهٔ کامل ذی‌نفعان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90088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همه طرف‌ها در یک پلتفرم — اثر شبکه‌ای واقعی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80192" y="3721608"/>
            <a:ext cx="585216" cy="585216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0" y="372160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76472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یادگیری مداوم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13048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هر پروژهٔ جدید، توصیه‌های آینده را بهبود می‌دهد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80560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80192" y="4544568"/>
            <a:ext cx="585216" cy="585216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454456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599432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مقیاس‌پذیر و چندشهری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36008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مدل آماده برای ورود به شهرها و مناطق متعدد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03520"/>
            <a:ext cx="11064240" cy="7132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80192" y="5367528"/>
            <a:ext cx="585216" cy="585216"/>
          </a:xfrm>
          <a:prstGeom prst="ellipse">
            <a:avLst/>
          </a:prstGeom>
          <a:solidFill>
            <a:srgbClr val="0B6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536752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422392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>
                <a:solidFill>
                  <a:srgbClr val="074D6E"/>
                </a:solidFill>
                <a:latin typeface="Tahoma"/>
              </a:rPr>
              <a:t>شفافیت و اختیار مشترک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58968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>
                <a:solidFill>
                  <a:srgbClr val="1F2D3D"/>
                </a:solidFill>
                <a:latin typeface="Tahoma"/>
              </a:rPr>
              <a:t>همه‌چیز اختیاری · ارزش روشن قبل از پرداخت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4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2286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1">
                <a:solidFill>
                  <a:srgbClr val="074D6E"/>
                </a:solidFill>
                <a:latin typeface="Tahoma"/>
              </a:rPr>
              <a:t>💧 آبدیت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C7A89"/>
                </a:solidFill>
                <a:latin typeface="Tahoma"/>
              </a:rPr>
              <a:t>18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100" b="0">
                <a:solidFill>
                  <a:srgbClr val="6C7A89"/>
                </a:solidFill>
                <a:latin typeface="Tahoma"/>
              </a:rPr>
              <a:t>آبدیت · سامانهٔ هوشمند بهینه‌سازی مصرف آب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5000" b="1">
                <a:solidFill>
                  <a:srgbClr val="FFFFFF"/>
                </a:solidFill>
                <a:latin typeface="Tahoma"/>
              </a:rPr>
              <a:t>بیایید آب را هوشمند مصرف کنیم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200" b="0">
                <a:solidFill>
                  <a:srgbClr val="18B6C9"/>
                </a:solidFill>
                <a:latin typeface="Tahoma"/>
              </a:rPr>
              <a:t>آبدیت آماده است تا با شرکت‌های آب، شهرداری‌ها و سرمایه‌گذاران همکار شود.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0">
                <a:solidFill>
                  <a:srgbClr val="FFFFFF"/>
                </a:solidFill>
                <a:latin typeface="Tahoma"/>
              </a:rPr>
              <a:t>نسخهٔ نمایشی زنده: محلی، آمادهٔ اجرا (./run.sh یا run.bat)</a:t>
            </a:r>
          </a:p>
          <a:p>
            <a:pPr algn="ctr" rtl="1"/>
            <a:r>
              <a:rPr sz="1400" b="0">
                <a:solidFill>
                  <a:srgbClr val="FFFFFF"/>
                </a:solidFill>
                <a:latin typeface="Tahoma"/>
              </a:rPr>
              <a:t>همهٔ نقش‌ها · کل گردش‌کار هفت‌مرحله‌ای · داده‌های نمایشی پارسی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200" b="1">
                <a:solidFill>
                  <a:srgbClr val="FFFFFF"/>
                </a:solidFill>
                <a:latin typeface="Tahoma"/>
              </a:rPr>
              <a:t>ممنون از توجه شما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