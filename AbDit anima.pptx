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67" r:id="rId3"/>
    <p:sldId id="257" r:id="rId4"/>
    <p:sldId id="260" r:id="rId5"/>
    <p:sldId id="261" r:id="rId6"/>
    <p:sldId id="262" r:id="rId7"/>
    <p:sldId id="263" r:id="rId8"/>
    <p:sldId id="256" r:id="rId9"/>
    <p:sldId id="258" r:id="rId10"/>
    <p:sldId id="259" r:id="rId11"/>
    <p:sldId id="265" r:id="rId12"/>
    <p:sldId id="264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dLbls>
            <c:dLbl>
              <c:idx val="1"/>
              <c:layout>
                <c:manualLayout>
                  <c:x val="-6.2651862572132511E-2"/>
                  <c:y val="0.12519071435862844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13FF-4A01-BB17-D5982E94402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17735421387111991"/>
                  <c:y val="-4.9442273675461314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13FF-4A01-BB17-D5982E94402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5.1326601637906128E-3"/>
                  <c:y val="-0.15022674331062949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13FF-4A01-BB17-D5982E94402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12665035267635416"/>
                  <c:y val="-0.11214919334036115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13FF-4A01-BB17-D5982E94402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15517889367410281"/>
                  <c:y val="1.1252122667710612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13FF-4A01-BB17-D5982E94402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8.175537252579726E-2"/>
                  <c:y val="0.1134901055813500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13FF-4A01-BB17-D5982E94402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4.2804712191702829E-2"/>
                  <c:y val="0.10585010120007124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 xmlns:c16r2="http://schemas.microsoft.com/office/drawing/2015/06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Sheet1!$A$5:$A$13</c:f>
              <c:strCache>
                <c:ptCount val="9"/>
                <c:pt idx="0">
                  <c:v>آشاميدن</c:v>
                </c:pt>
                <c:pt idx="1">
                  <c:v>پخت وپز</c:v>
                </c:pt>
                <c:pt idx="2">
                  <c:v>حمام و شستشو</c:v>
                </c:pt>
                <c:pt idx="3">
                  <c:v>لباس شويي</c:v>
                </c:pt>
                <c:pt idx="4">
                  <c:v>ظرفشويي</c:v>
                </c:pt>
                <c:pt idx="5">
                  <c:v>دست شويي وتوالت</c:v>
                </c:pt>
                <c:pt idx="6">
                  <c:v>نظافت خانه</c:v>
                </c:pt>
                <c:pt idx="7">
                  <c:v>كولر وتهويه مطبوع</c:v>
                </c:pt>
                <c:pt idx="8">
                  <c:v>متفرقه</c:v>
                </c:pt>
              </c:strCache>
            </c:strRef>
          </c:cat>
          <c:val>
            <c:numRef>
              <c:f>Sheet1!$B$5:$B$13</c:f>
              <c:numCache>
                <c:formatCode>General</c:formatCode>
                <c:ptCount val="9"/>
                <c:pt idx="0">
                  <c:v>5</c:v>
                </c:pt>
                <c:pt idx="1">
                  <c:v>10</c:v>
                </c:pt>
                <c:pt idx="2">
                  <c:v>50</c:v>
                </c:pt>
                <c:pt idx="3">
                  <c:v>20</c:v>
                </c:pt>
                <c:pt idx="4">
                  <c:v>15</c:v>
                </c:pt>
                <c:pt idx="5">
                  <c:v>30</c:v>
                </c:pt>
                <c:pt idx="6">
                  <c:v>10</c:v>
                </c:pt>
                <c:pt idx="7">
                  <c:v>5</c:v>
                </c:pt>
                <c:pt idx="8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13FF-4A01-BB17-D5982E944028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360"/>
      </c:pieChart>
    </c:plotArea>
    <c:legend>
      <c:legendPos val="r"/>
      <c:layout>
        <c:manualLayout>
          <c:xMode val="edge"/>
          <c:yMode val="edge"/>
          <c:x val="0.69760822378347853"/>
          <c:y val="0.16904499333513007"/>
          <c:w val="0.30239177621652147"/>
          <c:h val="0.77698835286662249"/>
        </c:manualLayout>
      </c:layout>
      <c:overlay val="0"/>
    </c:legend>
    <c:plotVisOnly val="1"/>
    <c:dispBlanksAs val="zero"/>
    <c:showDLblsOverMax val="0"/>
  </c:chart>
  <c:spPr>
    <a:ln>
      <a:noFill/>
    </a:ln>
  </c:spPr>
  <c:txPr>
    <a:bodyPr/>
    <a:lstStyle/>
    <a:p>
      <a:pPr>
        <a:defRPr sz="1600">
          <a:cs typeface="B Nazanin" panose="00000400000000000000" pitchFamily="2" charset="-78"/>
        </a:defRPr>
      </a:pPr>
      <a:endParaRPr lang="en-US"/>
    </a:p>
  </c:txPr>
  <c:externalData r:id="rId2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79601-DA6A-4D64-9ABA-4DC954E0C17C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B1AAAB-7E51-4F8B-87F9-DB4439033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761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xfrm>
            <a:off x="3995738" y="8842375"/>
            <a:ext cx="3055937" cy="466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F5D8582-9332-4762-940F-49FB707F8F3E}" type="slidenum">
              <a:rPr lang="en-US" altLang="en-US" sz="1200" smtClean="0">
                <a:solidFill>
                  <a:srgbClr val="000000"/>
                </a:solidFill>
              </a:rPr>
              <a:pPr/>
              <a:t>1</a:t>
            </a:fld>
            <a:endParaRPr lang="en-US" altLang="en-US" sz="120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663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FEE927-5A74-4168-AA73-B8CBE53E0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53A8CC7-6745-46F1-8E35-6D2039D978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920469D-CCAF-4217-B1BB-B78899FA5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87986CF-B691-48F0-8713-AAD0FAF55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A3C164-B28E-4F94-A8B8-9870E3B4E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85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5EADCF-B954-4F78-9811-1F81CD048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E91CA0-3AFF-40C0-ACAF-264B30C93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C9A9CAA-2F29-4A3C-8648-FAF105DF6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63EC2E2-4268-410A-9EE4-36BB5DF9D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3F51804-0516-49C1-85A8-FC2C324C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25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8C1F9A-58D9-49BE-9BB9-16F520A5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9E76B65-5738-4B49-9A01-86D9DD416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F318E77-03E1-4532-B206-7438ED56E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01895D6-C758-4E14-AC8A-FD03CE756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A1C812-0FF0-4E44-A26D-B61544902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378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140C0E-FE9E-41A5-9CE1-8DEAAED93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DE59829-DBA6-4159-8A62-CEBD2FBBE6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6528906-965C-49C7-8D7B-9C2A18481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374A753-1CCC-441B-9E2E-8A95024E8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6DAE1EC-1876-4234-9174-B45E8DDEE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3CA2E0F-2A8C-49D4-836C-99B1BE8B5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8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6F2E16-E8E4-42C1-875F-99E186752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F32C6F3-3EE5-45A7-BDF7-A7EC79B45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F7DED13-7C63-4E05-8753-5D1F9882D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840FAA5-AC15-41F0-A88E-742EFB6BB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860ACE4D-A7E2-40DD-881F-03A3BED1EA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5CA8A93-9CA5-496A-B5D7-59DCF72D2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576E39E-27FF-4840-B01F-62AE91B4B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97C00E7-79C4-4321-A046-C46FFD369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35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F6286A-099E-4C6C-86B6-31D1B590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D8EC540-1390-4817-B51D-CB9C97298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132D7D9-8389-4922-A9A1-9DE6C1BB9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07A6295-F460-4FA3-B473-EA0F74772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39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3896535-5093-4B01-A61C-46121C865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D9C99CF-C8E1-42EE-AB5C-8DD518A35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A36BDB-B3FB-4908-9249-B024E801F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03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2DF970-ED71-4D06-99BE-1E7283CE1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0DE328-CF59-49F7-A1CB-938C7EC15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4146545-65B5-45B1-AF6B-59AFC1D0B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423A7FF-A1A6-4AA3-85C0-A0EFD9EB0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137186F-4086-431E-8201-5FE80F15A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607284C-5023-4B64-9E52-45ECDB387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84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D44997-828B-4555-B7B2-E322F5C5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330B95DA-A87A-4E52-AFA1-D40A04CA6B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C13E9EF-D380-449A-B935-512C1A1BC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677B11B-982D-444B-B983-60E971ADE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E656C9A-418A-4BA5-9400-2B5E850BE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D1361D7-AB56-44EF-8024-2DCA7711A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873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C0456E-ABA5-43E5-8465-E08725F2A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AD914DE-14EC-450C-97D3-51B4B651E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C3CDD2C-E873-4040-8BE0-D0EE9AF97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718B52-A802-46BB-88CE-966AB241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29889EB-0B20-4EB7-9D1D-3C89B564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15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7BDA28B-A445-4EBC-B632-0C0143F3C6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AD5EFA0-2678-492D-8AAE-96BC9826E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24D7C2-1F48-4E06-BC7B-53887BC11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A29AA-70F9-483E-A4EA-0D118345A525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F79E278-EDEE-4C51-A866-3E063618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AD031C4-87E9-48BE-BC03-C3AC94B42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41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fld id="{7ED800C0-DFF6-4037-A59B-7E3CD6399E29}" type="datetimeFigureOut">
              <a:rPr lang="en-US"/>
              <a:pPr>
                <a:defRPr/>
              </a:pPr>
              <a:t>8/26/2023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EB53ADC-0ADF-4328-9EDE-405960C4AE59}" type="slidenum">
              <a:rPr lang="fa-IR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0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fld id="{EB52C477-3FBF-492B-AF68-E85DDBF985A6}" type="datetimeFigureOut">
              <a:rPr lang="en-US"/>
              <a:pPr>
                <a:defRPr/>
              </a:pPr>
              <a:t>8/26/2023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B744DE7-0A80-48EF-A1EB-9433DECFDEB8}" type="slidenum">
              <a:rPr lang="fa-IR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038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fld id="{B8A563BA-A858-4B39-8964-D289DA167CDB}" type="datetimeFigureOut">
              <a:rPr lang="en-US"/>
              <a:pPr>
                <a:defRPr/>
              </a:pPr>
              <a:t>8/26/2023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B34CB4D-96C1-4189-8CF8-6F487E5FFCDD}" type="slidenum">
              <a:rPr lang="fa-IR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09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fld id="{E767D242-AD73-4AAD-A5A4-2410E8A3ECE4}" type="datetimeFigureOut">
              <a:rPr lang="en-US"/>
              <a:pPr>
                <a:defRPr/>
              </a:pPr>
              <a:t>8/26/2023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017E8F0-7403-4599-A7CD-63D07A01A33E}" type="slidenum">
              <a:rPr lang="fa-IR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350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fld id="{B589B786-A19F-4EF3-8F32-9D29B3A60BDC}" type="datetimeFigureOut">
              <a:rPr lang="en-US"/>
              <a:pPr>
                <a:defRPr/>
              </a:pPr>
              <a:t>8/26/2023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731C087-F25D-43CF-ABE5-C772EF29FB95}" type="slidenum">
              <a:rPr lang="fa-IR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84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fld id="{5F45A152-D359-4EA5-B7EF-2B65EADD1058}" type="datetimeFigureOut">
              <a:rPr lang="en-US"/>
              <a:pPr>
                <a:defRPr/>
              </a:pPr>
              <a:t>8/26/2023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16C72F0-FC9D-4775-9FBE-3E06B03280B4}" type="slidenum">
              <a:rPr lang="fa-IR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88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fld id="{FB6AF657-20B5-4917-892F-A3B9A23E80FA}" type="datetimeFigureOut">
              <a:rPr lang="en-US"/>
              <a:pPr>
                <a:defRPr/>
              </a:pPr>
              <a:t>8/26/2023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EB5BD7E-EA65-45C7-90E2-29EF2111E5D9}" type="slidenum">
              <a:rPr lang="fa-IR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853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fld id="{B66C3849-37B1-4F60-9EA2-08DD5ED34371}" type="datetimeFigureOut">
              <a:rPr lang="en-US"/>
              <a:pPr>
                <a:defRPr/>
              </a:pPr>
              <a:t>8/26/2023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B7CFBC4-AC7E-4DB3-B861-C503FA387F62}" type="slidenum">
              <a:rPr lang="fa-IR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822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fa-I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fld id="{3C6A1BD1-4400-4E0E-A352-E683989BA4F0}" type="datetimeFigureOut">
              <a:rPr lang="en-US"/>
              <a:pPr>
                <a:defRPr/>
              </a:pPr>
              <a:t>8/26/2023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E41A053-CF6A-4E08-9316-3B45E91AF02E}" type="slidenum">
              <a:rPr lang="fa-IR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318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fld id="{DE23FE38-A6E9-4E21-B4B1-40CCF621C090}" type="datetimeFigureOut">
              <a:rPr lang="en-US"/>
              <a:pPr>
                <a:defRPr/>
              </a:pPr>
              <a:t>8/26/2023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FDF6175-2E74-4C9F-B261-94EF44AA82E1}" type="slidenum">
              <a:rPr lang="fa-IR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366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fld id="{CDCEAEFB-25CC-4BA4-82CB-C1B009EE3E27}" type="datetimeFigureOut">
              <a:rPr lang="en-US"/>
              <a:pPr>
                <a:defRPr/>
              </a:pPr>
              <a:t>8/26/2023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7C063F0-FD15-4BD2-BB6D-87E559287FA7}" type="slidenum">
              <a:rPr lang="fa-IR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71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5F0A562-A8D4-4A64-B23C-AD20FB1DA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3582849-617F-4D51-9B48-8A6ECE23E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79F6220-9C6F-4CCB-8955-52959EA958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A29AA-70F9-483E-A4EA-0D118345A525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DC435D1-CF57-4D3C-8B73-AC7888377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2ED7CC4-6AEB-4D9D-81D3-F55419A93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4D768-44E8-4443-9E11-0C6FCC6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7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eaLnBrk="1" hangingPunct="1">
              <a:defRPr sz="900">
                <a:solidFill>
                  <a:prstClr val="black">
                    <a:tint val="75000"/>
                  </a:prst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6075B38-45A8-4338-AD4F-C75B8D780A22}" type="datetimeFigureOut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 eaLnBrk="1" hangingPunct="1">
              <a:defRPr sz="900">
                <a:solidFill>
                  <a:prstClr val="black">
                    <a:tint val="75000"/>
                  </a:prst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 eaLnBrk="1" hangingPunct="1">
              <a:defRPr sz="900">
                <a:solidFill>
                  <a:prstClr val="black">
                    <a:tint val="75000"/>
                  </a:prstClr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D034B65-A2C8-4406-92CE-3BB73E8B7E61}" type="slidenum">
              <a:rPr lang="fa-I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621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685800" rtl="1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r" defTabSz="685800" rtl="1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r" defTabSz="685800" rtl="1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r" defTabSz="685800" rtl="1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r" defTabSz="685800" rtl="1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r" defTabSz="685800" rtl="1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r" defTabSz="685800" rtl="1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r" defTabSz="685800" rtl="1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r" defTabSz="685800" rtl="1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r" defTabSz="685800" rtl="1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r" defTabSz="685800" rtl="1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r" defTabSz="685800" rtl="1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r" defTabSz="685800" rtl="1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r" defTabSz="685800" rtl="1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emf"/><Relationship Id="rId5" Type="http://schemas.openxmlformats.org/officeDocument/2006/relationships/package" Target="../embeddings/Microsoft_Word_Document1.docx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000000"/>
            </a:solidFill>
            <a:miter lim="0"/>
            <a:headEnd/>
            <a:tailEnd/>
          </a:ln>
        </p:spPr>
        <p:txBody>
          <a:bodyPr lIns="19050" tIns="19050" rIns="19050" bIns="19050" anchor="ctr"/>
          <a:lstStyle>
            <a:lvl1pPr marL="128588" defTabSz="3095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3095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3095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3095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3095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3095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3095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3095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3095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100">
              <a:solidFill>
                <a:srgbClr val="000000"/>
              </a:solidFill>
              <a:latin typeface="Gill Sans"/>
              <a:ea typeface="MS PGothic" panose="020B0600070205080204" pitchFamily="34" charset="-128"/>
              <a:cs typeface="Gill Sans"/>
              <a:sym typeface="Gill San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8225" y="2498726"/>
            <a:ext cx="6834188" cy="1101725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4200">
              <a:solidFill>
                <a:prstClr val="white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991754" y="1236161"/>
            <a:ext cx="8284360" cy="4511496"/>
            <a:chOff x="0" y="-31172"/>
            <a:chExt cx="12192000" cy="6889172"/>
          </a:xfrm>
          <a:solidFill>
            <a:srgbClr val="00556C">
              <a:alpha val="43000"/>
            </a:srgbClr>
          </a:solidFill>
        </p:grpSpPr>
        <p:sp>
          <p:nvSpPr>
            <p:cNvPr id="2" name="Rectangle 1"/>
            <p:cNvSpPr/>
            <p:nvPr/>
          </p:nvSpPr>
          <p:spPr>
            <a:xfrm>
              <a:off x="0" y="-31172"/>
              <a:ext cx="12192000" cy="360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white"/>
                </a:solidFill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11832000" y="-31172"/>
              <a:ext cx="360000" cy="688917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white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0" y="6498000"/>
              <a:ext cx="11832000" cy="360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white"/>
                </a:solidFill>
              </a:endParaRPr>
            </a:p>
          </p:txBody>
        </p:sp>
      </p:grpSp>
      <p:sp>
        <p:nvSpPr>
          <p:cNvPr id="32" name="Rectangle 31"/>
          <p:cNvSpPr/>
          <p:nvPr/>
        </p:nvSpPr>
        <p:spPr>
          <a:xfrm>
            <a:off x="1992314" y="1236664"/>
            <a:ext cx="206375" cy="45116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42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48289" y="1870075"/>
            <a:ext cx="3743325" cy="2897188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4200">
              <a:solidFill>
                <a:prstClr val="white"/>
              </a:solidFill>
            </a:endParaRPr>
          </a:p>
        </p:txBody>
      </p:sp>
      <p:pic>
        <p:nvPicPr>
          <p:cNvPr id="27655" name="Picture 6"/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851" y="2176462"/>
            <a:ext cx="5919787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257" y="6096000"/>
            <a:ext cx="980822" cy="50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50776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A48B6B-8A60-4FE7-921A-B300EC376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895" y="3429000"/>
            <a:ext cx="9160240" cy="1325563"/>
          </a:xfrm>
        </p:spPr>
        <p:txBody>
          <a:bodyPr>
            <a:normAutofit fontScale="90000"/>
          </a:bodyPr>
          <a:lstStyle/>
          <a:p>
            <a:pPr marL="0" marR="0" algn="just" rtl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fa-IR" sz="44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Zar" panose="00000400000000000000" pitchFamily="2" charset="-78"/>
              </a:rPr>
              <a:t>مدیریت مصرف آب خانگی برپایه پلتفرم همرسانی </a:t>
            </a: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Zar" panose="00000400000000000000" pitchFamily="2" charset="-78"/>
              </a:rPr>
              <a:t>ABDIT</a:t>
            </a:r>
            <a:r>
              <a:rPr lang="fa-IR" sz="44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Zar" panose="00000400000000000000" pitchFamily="2" charset="-78"/>
              </a:rPr>
              <a:t> و توسعه فضای کسب و کار خودگردان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914" y="693738"/>
            <a:ext cx="2081784" cy="107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750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914" y="693738"/>
            <a:ext cx="2081784" cy="1075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9089" y="2191874"/>
            <a:ext cx="93760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cs typeface="B Yagut" panose="00000400000000000000" pitchFamily="2" charset="-78"/>
              </a:rPr>
              <a:t>در </a:t>
            </a:r>
            <a:r>
              <a:rPr lang="fa-IR" sz="2000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cs typeface="B Yagut" panose="00000400000000000000" pitchFamily="2" charset="-78"/>
              </a:rPr>
              <a:t>حال حاضر حدود 21 میلیون واحد خانگی شهری، در کشور وجود دارد</a:t>
            </a:r>
            <a:r>
              <a:rPr lang="fa-IR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cs typeface="B Yagut" panose="00000400000000000000" pitchFamily="2" charset="-78"/>
              </a:rPr>
              <a:t>.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 smtClean="0">
              <a:effectLst>
                <a:outerShdw blurRad="50800" dist="38100" dir="2700000" algn="tl">
                  <a:srgbClr val="000000">
                    <a:alpha val="40000"/>
                  </a:srgbClr>
                </a:outerShdw>
              </a:effectLst>
              <a:cs typeface="B Yagut" panose="00000400000000000000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cs typeface="B Yagut" panose="00000400000000000000" pitchFamily="2" charset="-78"/>
              </a:rPr>
              <a:t> میزان </a:t>
            </a:r>
            <a:r>
              <a:rPr lang="fa-IR" sz="2000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cs typeface="B Yagut" panose="00000400000000000000" pitchFamily="2" charset="-78"/>
              </a:rPr>
              <a:t>میانگین سرانه مصرف کل </a:t>
            </a:r>
            <a:r>
              <a:rPr lang="fa-IR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cs typeface="B Yagut" panose="00000400000000000000" pitchFamily="2" charset="-78"/>
              </a:rPr>
              <a:t>در </a:t>
            </a:r>
            <a:r>
              <a:rPr lang="fa-IR" sz="2000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cs typeface="B Yagut" panose="00000400000000000000" pitchFamily="2" charset="-78"/>
              </a:rPr>
              <a:t>شهرهای ایران در حدود 221 لیتر به ازای هر نفر در شبانه روز </a:t>
            </a:r>
            <a:r>
              <a:rPr lang="fa-IR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cs typeface="B Yagut" panose="00000400000000000000" pitchFamily="2" charset="-78"/>
              </a:rPr>
              <a:t>است</a:t>
            </a:r>
            <a:r>
              <a:rPr lang="en-US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cs typeface="B Yagut" panose="00000400000000000000" pitchFamily="2" charset="-78"/>
              </a:rPr>
              <a:t>.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cs typeface="B Yagut" panose="00000400000000000000" pitchFamily="2" charset="-78"/>
              </a:rPr>
              <a:t> </a:t>
            </a:r>
            <a:r>
              <a:rPr lang="fa-IR" sz="2000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cs typeface="B Yagut" panose="00000400000000000000" pitchFamily="2" charset="-78"/>
              </a:rPr>
              <a:t>از این مقدار 179 لیتر به ازای هر نفر در شبانه روز مربوط به مصارف خانگی است</a:t>
            </a:r>
            <a:r>
              <a:rPr lang="fa-IR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cs typeface="B Yagut" panose="00000400000000000000" pitchFamily="2" charset="-78"/>
              </a:rPr>
              <a:t>.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a-IR" sz="2000" dirty="0" smtClean="0">
              <a:effectLst>
                <a:outerShdw blurRad="50800" dist="38100" dir="2700000" algn="tl">
                  <a:srgbClr val="000000">
                    <a:alpha val="40000"/>
                  </a:srgbClr>
                </a:outerShdw>
              </a:effectLst>
              <a:cs typeface="B Yagut" panose="00000400000000000000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cs typeface="B Yagut" panose="00000400000000000000" pitchFamily="2" charset="-78"/>
              </a:rPr>
              <a:t>در بخش مصارف آب خانگی بیشترین سهم به ترتیب، حدود   34  درصد مربوط به مصرف در حمام و 20  درصد مربوط به سرویس‌های بهداشتی می باشد.</a:t>
            </a:r>
            <a:endParaRPr lang="en-US" sz="2000" dirty="0">
              <a:cs typeface="B Yagut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41950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914" y="693738"/>
            <a:ext cx="2081784" cy="1075944"/>
          </a:xfrm>
          <a:prstGeom prst="rect">
            <a:avLst/>
          </a:prstGeom>
        </p:spPr>
      </p:pic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357086089"/>
              </p:ext>
            </p:extLst>
          </p:nvPr>
        </p:nvGraphicFramePr>
        <p:xfrm>
          <a:off x="2191658" y="1259678"/>
          <a:ext cx="6220460" cy="43685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Rectangle 1"/>
          <p:cNvSpPr/>
          <p:nvPr/>
        </p:nvSpPr>
        <p:spPr>
          <a:xfrm>
            <a:off x="3054824" y="5668504"/>
            <a:ext cx="42274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2000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سهم هریک از اجزا مصرف آب خانگی در ایران</a:t>
            </a:r>
            <a:endParaRPr lang="en-US" sz="2000" dirty="0">
              <a:cs typeface="B Yagut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79074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914" y="693738"/>
            <a:ext cx="2081784" cy="107594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523999" y="1769682"/>
            <a:ext cx="9724571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بر اساس صورت‌های مالی شرکت های آب و فاضلاب شهری تعداد واحدهای با مصرف بالاتر از 15 متر مکعب در ماه یعنی بیش از الگوی مصرف آب،  نزدیک 8.300.000 (هشت میلیون و سیصد هزار) واحد است</a:t>
            </a:r>
            <a:r>
              <a:rPr lang="fa-IR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.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a-IR" sz="2000" dirty="0" smtClean="0">
              <a:effectLst>
                <a:outerShdw blurRad="50800" dist="38100" dir="2700000" algn="tl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B Yagut" panose="00000400000000000000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 </a:t>
            </a:r>
            <a:r>
              <a:rPr lang="fa-IR" sz="2000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این بخش از مصرف‌کنندگان بیش از 2.2 میلیارد مترمکعب از آب تامین شده را به خود اختصاص می‌دهند</a:t>
            </a:r>
            <a:r>
              <a:rPr lang="fa-IR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.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a-IR" sz="2000" dirty="0" smtClean="0">
              <a:effectLst>
                <a:outerShdw blurRad="50800" dist="38100" dir="2700000" algn="tl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B Yagut" panose="00000400000000000000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 </a:t>
            </a:r>
            <a:r>
              <a:rPr lang="fa-IR" sz="2000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به نظر می‌رسد </a:t>
            </a:r>
            <a:r>
              <a:rPr lang="fa-IR" sz="2000" dirty="0">
                <a:solidFill>
                  <a:srgbClr val="C00000"/>
                </a:solidFill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مدیریت مصرف آب </a:t>
            </a:r>
            <a:r>
              <a:rPr lang="fa-IR" sz="2000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مشترکین پرمصرف دارای اثرات اقتصادی و اجتماعی مثبت بسیار و بر همین اساس نسبت به سایر روش‌ها دارای اولویت است. </a:t>
            </a:r>
            <a:endParaRPr lang="fa-IR" sz="2000" dirty="0" smtClean="0">
              <a:effectLst>
                <a:outerShdw blurRad="50800" dist="38100" dir="2700000" algn="tl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B Yagut" panose="00000400000000000000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a-IR" sz="2000" dirty="0" smtClean="0">
              <a:effectLst>
                <a:outerShdw blurRad="50800" dist="38100" dir="2700000" algn="tl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B Yagut" panose="00000400000000000000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درکنار </a:t>
            </a:r>
            <a:r>
              <a:rPr lang="fa-IR" sz="2000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فرهنگ‌سازی، مدیریت فشار، کاهش هدر رفت و دیگر روش‌ها، </a:t>
            </a:r>
            <a:r>
              <a:rPr lang="fa-IR" sz="2000" dirty="0">
                <a:solidFill>
                  <a:srgbClr val="C00000"/>
                </a:solidFill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نصب تجهیزات کاهنده مصرف آب </a:t>
            </a:r>
            <a:r>
              <a:rPr lang="fa-IR" sz="2000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خانگی از اثربخشی بالایی برخوردار می‌باشد.</a:t>
            </a:r>
            <a:endParaRPr lang="en-US" sz="2000" dirty="0">
              <a:cs typeface="B Yagut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3991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914" y="693738"/>
            <a:ext cx="2081784" cy="1075944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847530"/>
              </p:ext>
            </p:extLst>
          </p:nvPr>
        </p:nvGraphicFramePr>
        <p:xfrm>
          <a:off x="1769153" y="2744787"/>
          <a:ext cx="8887805" cy="411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Document" r:id="rId5" imgW="6912038" imgH="3198499" progId="Word.Document.12">
                  <p:embed/>
                </p:oleObj>
              </mc:Choice>
              <mc:Fallback>
                <p:oleObj name="Document" r:id="rId5" imgW="6912038" imgH="31984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69153" y="2744787"/>
                        <a:ext cx="8887805" cy="4113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3211271" y="2099662"/>
            <a:ext cx="60035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2000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میزان اثربخشی تجهیزات کاهنده مصرف آب خانگی در حالت ایده‌آل</a:t>
            </a:r>
            <a:endParaRPr lang="en-US" sz="2000" dirty="0">
              <a:cs typeface="B Yagut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1329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7F7AD32-6720-4C03-9BD6-540662FEBCE5}"/>
              </a:ext>
            </a:extLst>
          </p:cNvPr>
          <p:cNvSpPr/>
          <p:nvPr/>
        </p:nvSpPr>
        <p:spPr>
          <a:xfrm>
            <a:off x="1767840" y="2566670"/>
            <a:ext cx="2202815" cy="6477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1483426-FFF5-4EE6-A292-CCF373D4B40D}"/>
              </a:ext>
            </a:extLst>
          </p:cNvPr>
          <p:cNvSpPr/>
          <p:nvPr/>
        </p:nvSpPr>
        <p:spPr>
          <a:xfrm>
            <a:off x="4464685" y="1044575"/>
            <a:ext cx="2980690" cy="613410"/>
          </a:xfrm>
          <a:prstGeom prst="rect">
            <a:avLst/>
          </a:prstGeom>
          <a:solidFill>
            <a:schemeClr val="bg1"/>
          </a:solidFill>
          <a:ln w="3175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11" name="Text Box 66">
            <a:extLst>
              <a:ext uri="{FF2B5EF4-FFF2-40B4-BE49-F238E27FC236}">
                <a16:creationId xmlns:a16="http://schemas.microsoft.com/office/drawing/2014/main" xmlns="" id="{2C5FA3CA-8112-49C6-B0DB-2DF37C20C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1681" y="1132408"/>
            <a:ext cx="288817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شرکت آب و فاضلاب 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36">
            <a:extLst>
              <a:ext uri="{FF2B5EF4-FFF2-40B4-BE49-F238E27FC236}">
                <a16:creationId xmlns:a16="http://schemas.microsoft.com/office/drawing/2014/main" xmlns="" id="{96C81006-DF3B-4F21-843A-FB16C535B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654" y="2653842"/>
            <a:ext cx="14763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مصرف کننده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DB277233-34CB-4A91-941B-BA71AE4F7D0A}"/>
              </a:ext>
            </a:extLst>
          </p:cNvPr>
          <p:cNvSpPr/>
          <p:nvPr/>
        </p:nvSpPr>
        <p:spPr>
          <a:xfrm>
            <a:off x="5969000" y="4467860"/>
            <a:ext cx="1568450" cy="4286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19" name="Text Box 10">
            <a:extLst>
              <a:ext uri="{FF2B5EF4-FFF2-40B4-BE49-F238E27FC236}">
                <a16:creationId xmlns:a16="http://schemas.microsoft.com/office/drawing/2014/main" xmlns="" id="{6C147A13-3B63-47F0-89E7-B56B0DE2F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5175" y="4491011"/>
            <a:ext cx="14668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تامین کننده تجهیزات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Elbow Connector 53">
            <a:extLst>
              <a:ext uri="{FF2B5EF4-FFF2-40B4-BE49-F238E27FC236}">
                <a16:creationId xmlns:a16="http://schemas.microsoft.com/office/drawing/2014/main" xmlns="" id="{BD8D38B3-02AB-49D0-843B-23A35474D526}"/>
              </a:ext>
            </a:extLst>
          </p:cNvPr>
          <p:cNvCxnSpPr/>
          <p:nvPr/>
        </p:nvCxnSpPr>
        <p:spPr>
          <a:xfrm rot="10800000" flipV="1">
            <a:off x="1756410" y="1163320"/>
            <a:ext cx="2686685" cy="1508125"/>
          </a:xfrm>
          <a:prstGeom prst="bentConnector3">
            <a:avLst>
              <a:gd name="adj1" fmla="val 149752"/>
            </a:avLst>
          </a:prstGeom>
          <a:ln w="317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xmlns="" id="{4711DBB9-F25D-4A68-958D-DFAE624AE1E0}"/>
              </a:ext>
            </a:extLst>
          </p:cNvPr>
          <p:cNvSpPr/>
          <p:nvPr/>
        </p:nvSpPr>
        <p:spPr>
          <a:xfrm>
            <a:off x="688340" y="2776220"/>
            <a:ext cx="301625" cy="2667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2B4F2CD8-CFDE-4579-8CC7-1642BA84E9C0}"/>
              </a:ext>
            </a:extLst>
          </p:cNvPr>
          <p:cNvCxnSpPr/>
          <p:nvPr/>
        </p:nvCxnSpPr>
        <p:spPr>
          <a:xfrm flipV="1">
            <a:off x="819150" y="2854960"/>
            <a:ext cx="146050" cy="77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60">
            <a:extLst>
              <a:ext uri="{FF2B5EF4-FFF2-40B4-BE49-F238E27FC236}">
                <a16:creationId xmlns:a16="http://schemas.microsoft.com/office/drawing/2014/main" xmlns="" id="{6BF3FACC-D30A-4074-B498-E5E5291FC2DC}"/>
              </a:ext>
            </a:extLst>
          </p:cNvPr>
          <p:cNvCxnSpPr/>
          <p:nvPr/>
        </p:nvCxnSpPr>
        <p:spPr>
          <a:xfrm flipV="1">
            <a:off x="818515" y="1314450"/>
            <a:ext cx="3634105" cy="1457325"/>
          </a:xfrm>
          <a:prstGeom prst="bentConnector3">
            <a:avLst>
              <a:gd name="adj1" fmla="val 201"/>
            </a:avLst>
          </a:prstGeom>
          <a:ln w="25400">
            <a:solidFill>
              <a:srgbClr val="FFC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xmlns="" id="{871488E2-CAB8-4EEB-8336-00EB678C2DE3}"/>
              </a:ext>
            </a:extLst>
          </p:cNvPr>
          <p:cNvSpPr/>
          <p:nvPr/>
        </p:nvSpPr>
        <p:spPr>
          <a:xfrm>
            <a:off x="519430" y="1495425"/>
            <a:ext cx="1175385" cy="307975"/>
          </a:xfrm>
          <a:prstGeom prst="rect">
            <a:avLst/>
          </a:prstGeom>
          <a:solidFill>
            <a:sysClr val="window" lastClr="FFFFFF"/>
          </a:solidFill>
          <a:ln w="3492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67" name="Text Box 61">
            <a:extLst>
              <a:ext uri="{FF2B5EF4-FFF2-40B4-BE49-F238E27FC236}">
                <a16:creationId xmlns:a16="http://schemas.microsoft.com/office/drawing/2014/main" xmlns="" id="{81B5EA66-6151-4978-ABA4-E940C98F4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58" y="1497533"/>
            <a:ext cx="962025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قرائت کنتور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xmlns="" id="{7C668F0E-0D88-4C9E-936F-B9D3A513A82E}"/>
              </a:ext>
            </a:extLst>
          </p:cNvPr>
          <p:cNvSpPr/>
          <p:nvPr/>
        </p:nvSpPr>
        <p:spPr>
          <a:xfrm>
            <a:off x="1529080" y="939165"/>
            <a:ext cx="1175385" cy="307975"/>
          </a:xfrm>
          <a:prstGeom prst="rect">
            <a:avLst/>
          </a:prstGeom>
          <a:solidFill>
            <a:sysClr val="window" lastClr="FFFFFF"/>
          </a:solidFill>
          <a:ln w="34925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69" name="Text Box 62">
            <a:extLst>
              <a:ext uri="{FF2B5EF4-FFF2-40B4-BE49-F238E27FC236}">
                <a16:creationId xmlns:a16="http://schemas.microsoft.com/office/drawing/2014/main" xmlns="" id="{D460CBF2-37C4-426B-BBC7-E0D2B6B3B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2872" y="930629"/>
            <a:ext cx="1473814" cy="243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صدور قبض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7" name="Elbow Connector 195">
            <a:extLst>
              <a:ext uri="{FF2B5EF4-FFF2-40B4-BE49-F238E27FC236}">
                <a16:creationId xmlns:a16="http://schemas.microsoft.com/office/drawing/2014/main" xmlns="" id="{2046BD4E-BDBC-4198-85E1-7ED8368412B3}"/>
              </a:ext>
            </a:extLst>
          </p:cNvPr>
          <p:cNvCxnSpPr/>
          <p:nvPr/>
        </p:nvCxnSpPr>
        <p:spPr>
          <a:xfrm flipV="1">
            <a:off x="3977640" y="1519555"/>
            <a:ext cx="465455" cy="1183640"/>
          </a:xfrm>
          <a:prstGeom prst="bentConnector3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xmlns="" id="{B57A95F3-5E6C-4057-AABD-8505C4A4B6CE}"/>
              </a:ext>
            </a:extLst>
          </p:cNvPr>
          <p:cNvSpPr/>
          <p:nvPr/>
        </p:nvSpPr>
        <p:spPr>
          <a:xfrm>
            <a:off x="4108450" y="1744980"/>
            <a:ext cx="1656715" cy="296545"/>
          </a:xfrm>
          <a:prstGeom prst="rect">
            <a:avLst/>
          </a:prstGeom>
          <a:solidFill>
            <a:sysClr val="window" lastClr="FFFFFF"/>
          </a:solidFill>
          <a:ln w="3492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79" name="Text Box 201">
            <a:extLst>
              <a:ext uri="{FF2B5EF4-FFF2-40B4-BE49-F238E27FC236}">
                <a16:creationId xmlns:a16="http://schemas.microsoft.com/office/drawing/2014/main" xmlns="" id="{412237A7-3A15-4CB5-B947-9A1C72FBD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8035" y="1725540"/>
            <a:ext cx="628650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پرداخت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 Box 204">
            <a:extLst>
              <a:ext uri="{FF2B5EF4-FFF2-40B4-BE49-F238E27FC236}">
                <a16:creationId xmlns:a16="http://schemas.microsoft.com/office/drawing/2014/main" xmlns="" id="{02D5252E-8248-4253-B4C2-B4B2FEC79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8501" y="1712529"/>
            <a:ext cx="2019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1F4E7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AbDit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4E7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Platform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xmlns="" id="{8E03D27B-4D98-4B38-ABCC-FA8E74E97B67}"/>
              </a:ext>
            </a:extLst>
          </p:cNvPr>
          <p:cNvCxnSpPr/>
          <p:nvPr/>
        </p:nvCxnSpPr>
        <p:spPr>
          <a:xfrm>
            <a:off x="989965" y="2933065"/>
            <a:ext cx="767080" cy="0"/>
          </a:xfrm>
          <a:prstGeom prst="line">
            <a:avLst/>
          </a:prstGeom>
          <a:ln w="190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xmlns="" id="{67253CAF-4F4E-4434-AB09-C90729BFF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8" name="Rectangle 114">
            <a:extLst>
              <a:ext uri="{FF2B5EF4-FFF2-40B4-BE49-F238E27FC236}">
                <a16:creationId xmlns:a16="http://schemas.microsoft.com/office/drawing/2014/main" xmlns="" id="{312814FB-67A5-44D0-8FCC-B9CAA7632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7" name="Picture 8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024" y="897971"/>
            <a:ext cx="1469278" cy="75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09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66" grpId="0" animBg="1"/>
      <p:bldP spid="68" grpId="0" animBg="1"/>
      <p:bldP spid="69" grpId="0"/>
      <p:bldP spid="78" grpId="0" animBg="1"/>
      <p:bldP spid="7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7F7AD32-6720-4C03-9BD6-540662FEBCE5}"/>
              </a:ext>
            </a:extLst>
          </p:cNvPr>
          <p:cNvSpPr/>
          <p:nvPr/>
        </p:nvSpPr>
        <p:spPr>
          <a:xfrm>
            <a:off x="1766253" y="2566272"/>
            <a:ext cx="2202815" cy="6477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B28F0C8-A5FB-4540-AF08-B60A0F5E0ABD}"/>
              </a:ext>
            </a:extLst>
          </p:cNvPr>
          <p:cNvSpPr/>
          <p:nvPr/>
        </p:nvSpPr>
        <p:spPr>
          <a:xfrm rot="16200000">
            <a:off x="4417695" y="2741930"/>
            <a:ext cx="1700530" cy="647700"/>
          </a:xfrm>
          <a:prstGeom prst="rect">
            <a:avLst/>
          </a:prstGeom>
          <a:solidFill>
            <a:srgbClr val="A0F8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endParaRPr lang="en-US"/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xmlns="" id="{5BF28B3B-2CA7-4607-83F7-EBBEAC003158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4657090" y="2801860"/>
            <a:ext cx="126682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AbDit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1483426-FFF5-4EE6-A292-CCF373D4B40D}"/>
              </a:ext>
            </a:extLst>
          </p:cNvPr>
          <p:cNvSpPr/>
          <p:nvPr/>
        </p:nvSpPr>
        <p:spPr>
          <a:xfrm>
            <a:off x="4464685" y="1044575"/>
            <a:ext cx="2980690" cy="613410"/>
          </a:xfrm>
          <a:prstGeom prst="rect">
            <a:avLst/>
          </a:prstGeom>
          <a:solidFill>
            <a:schemeClr val="bg1"/>
          </a:solidFill>
          <a:ln w="3175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11" name="Text Box 66">
            <a:extLst>
              <a:ext uri="{FF2B5EF4-FFF2-40B4-BE49-F238E27FC236}">
                <a16:creationId xmlns:a16="http://schemas.microsoft.com/office/drawing/2014/main" xmlns="" id="{2C5FA3CA-8112-49C6-B0DB-2DF37C20C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1681" y="1132408"/>
            <a:ext cx="288817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شرکت آب و فاضلاب 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36">
            <a:extLst>
              <a:ext uri="{FF2B5EF4-FFF2-40B4-BE49-F238E27FC236}">
                <a16:creationId xmlns:a16="http://schemas.microsoft.com/office/drawing/2014/main" xmlns="" id="{96C81006-DF3B-4F21-843A-FB16C535B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654" y="2653842"/>
            <a:ext cx="14763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مصرف کننده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CF2693EB-A2C9-4C5E-AB94-B221E017A627}"/>
              </a:ext>
            </a:extLst>
          </p:cNvPr>
          <p:cNvSpPr/>
          <p:nvPr/>
        </p:nvSpPr>
        <p:spPr>
          <a:xfrm>
            <a:off x="4171950" y="4324350"/>
            <a:ext cx="3571875" cy="1595755"/>
          </a:xfrm>
          <a:prstGeom prst="rect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B4E2FEFA-877E-467C-9391-95444ECF8FDF}"/>
              </a:ext>
            </a:extLst>
          </p:cNvPr>
          <p:cNvSpPr/>
          <p:nvPr/>
        </p:nvSpPr>
        <p:spPr>
          <a:xfrm>
            <a:off x="4304030" y="4474845"/>
            <a:ext cx="1560830" cy="428625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DB277233-34CB-4A91-941B-BA71AE4F7D0A}"/>
              </a:ext>
            </a:extLst>
          </p:cNvPr>
          <p:cNvSpPr/>
          <p:nvPr/>
        </p:nvSpPr>
        <p:spPr>
          <a:xfrm>
            <a:off x="5969000" y="4467860"/>
            <a:ext cx="1568450" cy="4286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C696C848-A3E3-48AC-AE18-BD7E85A4D120}"/>
              </a:ext>
            </a:extLst>
          </p:cNvPr>
          <p:cNvSpPr/>
          <p:nvPr/>
        </p:nvSpPr>
        <p:spPr>
          <a:xfrm>
            <a:off x="6648450" y="5019040"/>
            <a:ext cx="2202815" cy="314325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F87889B1-835E-4840-A8CE-947162B65645}"/>
              </a:ext>
            </a:extLst>
          </p:cNvPr>
          <p:cNvSpPr/>
          <p:nvPr/>
        </p:nvSpPr>
        <p:spPr>
          <a:xfrm>
            <a:off x="6649720" y="5414645"/>
            <a:ext cx="2202815" cy="272415"/>
          </a:xfrm>
          <a:prstGeom prst="rect">
            <a:avLst/>
          </a:prstGeom>
          <a:solidFill>
            <a:schemeClr val="bg1"/>
          </a:solidFill>
          <a:ln w="317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18" name="Text Box 9">
            <a:extLst>
              <a:ext uri="{FF2B5EF4-FFF2-40B4-BE49-F238E27FC236}">
                <a16:creationId xmlns:a16="http://schemas.microsoft.com/office/drawing/2014/main" xmlns="" id="{92F14340-997E-4033-ACDF-2CCA54672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8200" y="5001683"/>
            <a:ext cx="1327150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ممیز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Box 10">
            <a:extLst>
              <a:ext uri="{FF2B5EF4-FFF2-40B4-BE49-F238E27FC236}">
                <a16:creationId xmlns:a16="http://schemas.microsoft.com/office/drawing/2014/main" xmlns="" id="{6C147A13-3B63-47F0-89E7-B56B0DE2F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5175" y="4491011"/>
            <a:ext cx="14668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تامین کننده تجهیزات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xmlns="" id="{53033372-85DC-4BD9-A02C-41B2920B5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2732" y="4538501"/>
            <a:ext cx="14668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تامین کننده سرمایه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Box 12">
            <a:extLst>
              <a:ext uri="{FF2B5EF4-FFF2-40B4-BE49-F238E27FC236}">
                <a16:creationId xmlns:a16="http://schemas.microsoft.com/office/drawing/2014/main" xmlns="" id="{5EB4F7ED-25BA-4821-8762-053DD8F5A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6139" y="5386242"/>
            <a:ext cx="96678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مجری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Box 13">
            <a:extLst>
              <a:ext uri="{FF2B5EF4-FFF2-40B4-BE49-F238E27FC236}">
                <a16:creationId xmlns:a16="http://schemas.microsoft.com/office/drawing/2014/main" xmlns="" id="{001B6214-DC58-4771-A016-ADCD47F30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0" y="5200650"/>
            <a:ext cx="963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WSCO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0061222-6422-4589-8F90-CC63DFF8FC06}"/>
              </a:ext>
            </a:extLst>
          </p:cNvPr>
          <p:cNvSpPr/>
          <p:nvPr/>
        </p:nvSpPr>
        <p:spPr>
          <a:xfrm>
            <a:off x="5596255" y="2230120"/>
            <a:ext cx="2202815" cy="284480"/>
          </a:xfrm>
          <a:prstGeom prst="rect">
            <a:avLst/>
          </a:prstGeom>
          <a:solidFill>
            <a:srgbClr val="A0F8DB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3E1C9112-A8A7-4DAB-877A-1099C31DBDB2}"/>
              </a:ext>
            </a:extLst>
          </p:cNvPr>
          <p:cNvSpPr/>
          <p:nvPr/>
        </p:nvSpPr>
        <p:spPr>
          <a:xfrm>
            <a:off x="5594985" y="2567305"/>
            <a:ext cx="2202815" cy="284480"/>
          </a:xfrm>
          <a:prstGeom prst="rect">
            <a:avLst/>
          </a:prstGeom>
          <a:solidFill>
            <a:srgbClr val="A0F8DB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41A51000-C0CF-4662-92A3-09E728412634}"/>
              </a:ext>
            </a:extLst>
          </p:cNvPr>
          <p:cNvSpPr/>
          <p:nvPr/>
        </p:nvSpPr>
        <p:spPr>
          <a:xfrm>
            <a:off x="5598160" y="2931795"/>
            <a:ext cx="2202815" cy="284480"/>
          </a:xfrm>
          <a:prstGeom prst="rect">
            <a:avLst/>
          </a:prstGeom>
          <a:solidFill>
            <a:srgbClr val="A0F8DB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AF28FF1B-99D5-4D2D-BA27-F3C8DA4E729F}"/>
              </a:ext>
            </a:extLst>
          </p:cNvPr>
          <p:cNvSpPr/>
          <p:nvPr/>
        </p:nvSpPr>
        <p:spPr>
          <a:xfrm>
            <a:off x="5596255" y="3282950"/>
            <a:ext cx="2202815" cy="284480"/>
          </a:xfrm>
          <a:prstGeom prst="rect">
            <a:avLst/>
          </a:prstGeom>
          <a:solidFill>
            <a:srgbClr val="A0F8DB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4E5957DF-4D5A-447D-8A91-CC5360CEE832}"/>
              </a:ext>
            </a:extLst>
          </p:cNvPr>
          <p:cNvSpPr/>
          <p:nvPr/>
        </p:nvSpPr>
        <p:spPr>
          <a:xfrm>
            <a:off x="5601335" y="3636010"/>
            <a:ext cx="2202815" cy="284480"/>
          </a:xfrm>
          <a:prstGeom prst="rect">
            <a:avLst/>
          </a:prstGeom>
          <a:solidFill>
            <a:srgbClr val="A0F8DB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802FC4C1-A48B-4616-A2BA-F936771BF3E2}"/>
              </a:ext>
            </a:extLst>
          </p:cNvPr>
          <p:cNvSpPr/>
          <p:nvPr/>
        </p:nvSpPr>
        <p:spPr>
          <a:xfrm>
            <a:off x="4830445" y="2139315"/>
            <a:ext cx="3155315" cy="1863090"/>
          </a:xfrm>
          <a:prstGeom prst="rect">
            <a:avLst/>
          </a:prstGeom>
          <a:noFill/>
          <a:ln w="41275" cap="flat" cmpd="sng" algn="ctr">
            <a:solidFill>
              <a:srgbClr val="37895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47279EF2-4406-4A21-9BDB-5745480F42AF}"/>
              </a:ext>
            </a:extLst>
          </p:cNvPr>
          <p:cNvSpPr/>
          <p:nvPr/>
        </p:nvSpPr>
        <p:spPr>
          <a:xfrm>
            <a:off x="426085" y="3688080"/>
            <a:ext cx="1568450" cy="42862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0EEDD661-ABBB-4E5F-A947-D1437415C17E}"/>
              </a:ext>
            </a:extLst>
          </p:cNvPr>
          <p:cNvSpPr/>
          <p:nvPr/>
        </p:nvSpPr>
        <p:spPr>
          <a:xfrm>
            <a:off x="326390" y="4528820"/>
            <a:ext cx="3155315" cy="1336040"/>
          </a:xfrm>
          <a:prstGeom prst="rect">
            <a:avLst/>
          </a:prstGeom>
          <a:noFill/>
          <a:ln w="41275" cap="flat" cmpd="sng" algn="ctr">
            <a:solidFill>
              <a:srgbClr val="7030A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1862EBDB-3B80-43E2-B137-E9651482909D}"/>
              </a:ext>
            </a:extLst>
          </p:cNvPr>
          <p:cNvSpPr/>
          <p:nvPr/>
        </p:nvSpPr>
        <p:spPr>
          <a:xfrm rot="16200000">
            <a:off x="169227" y="4851083"/>
            <a:ext cx="1155065" cy="6477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40" name="Text Box 20">
            <a:extLst>
              <a:ext uri="{FF2B5EF4-FFF2-40B4-BE49-F238E27FC236}">
                <a16:creationId xmlns:a16="http://schemas.microsoft.com/office/drawing/2014/main" xmlns="" id="{8CC1833B-3F46-485E-AC98-B0626DE780AD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47843" y="4955065"/>
            <a:ext cx="1206500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موسسه آموزشی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71DB98AB-1D34-4AEE-B5A1-478C5BE20A89}"/>
              </a:ext>
            </a:extLst>
          </p:cNvPr>
          <p:cNvSpPr/>
          <p:nvPr/>
        </p:nvSpPr>
        <p:spPr>
          <a:xfrm>
            <a:off x="1171575" y="4611370"/>
            <a:ext cx="2202815" cy="284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79CAF201-77AB-48F5-A84A-E86AB339B948}"/>
              </a:ext>
            </a:extLst>
          </p:cNvPr>
          <p:cNvSpPr/>
          <p:nvPr/>
        </p:nvSpPr>
        <p:spPr>
          <a:xfrm>
            <a:off x="1171575" y="5017135"/>
            <a:ext cx="2202815" cy="284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C2FF3450-CBE3-4685-94D2-F9C06FC45550}"/>
              </a:ext>
            </a:extLst>
          </p:cNvPr>
          <p:cNvSpPr/>
          <p:nvPr/>
        </p:nvSpPr>
        <p:spPr>
          <a:xfrm>
            <a:off x="1171575" y="5405120"/>
            <a:ext cx="2202815" cy="284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47" name="Text Box 47">
            <a:extLst>
              <a:ext uri="{FF2B5EF4-FFF2-40B4-BE49-F238E27FC236}">
                <a16:creationId xmlns:a16="http://schemas.microsoft.com/office/drawing/2014/main" xmlns="" id="{7B244FFA-7EE8-4B5F-A97C-D14980D60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" y="3761611"/>
            <a:ext cx="1612901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پذیرنده ریسک سرمایه 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 Box 204">
            <a:extLst>
              <a:ext uri="{FF2B5EF4-FFF2-40B4-BE49-F238E27FC236}">
                <a16:creationId xmlns:a16="http://schemas.microsoft.com/office/drawing/2014/main" xmlns="" id="{02D5252E-8248-4253-B4C2-B4B2FEC79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8501" y="1712529"/>
            <a:ext cx="2019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1F4E7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AbDit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4E7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Platform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xmlns="" id="{67253CAF-4F4E-4434-AB09-C90729BFF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8" name="Rectangle 114">
            <a:extLst>
              <a:ext uri="{FF2B5EF4-FFF2-40B4-BE49-F238E27FC236}">
                <a16:creationId xmlns:a16="http://schemas.microsoft.com/office/drawing/2014/main" xmlns="" id="{312814FB-67A5-44D0-8FCC-B9CAA7632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7" name="Picture 8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024" y="897971"/>
            <a:ext cx="1469278" cy="75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4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3" grpId="0" animBg="1"/>
      <p:bldP spid="14" grpId="0" animBg="1"/>
      <p:bldP spid="16" grpId="0" animBg="1"/>
      <p:bldP spid="17" grpId="0" animBg="1"/>
      <p:bldP spid="18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33" grpId="0" animBg="1"/>
      <p:bldP spid="37" grpId="0" animBg="1"/>
      <p:bldP spid="38" grpId="0" animBg="1"/>
      <p:bldP spid="39" grpId="0" animBg="1"/>
      <p:bldP spid="40" grpId="0"/>
      <p:bldP spid="41" grpId="0" animBg="1"/>
      <p:bldP spid="42" grpId="0" animBg="1"/>
      <p:bldP spid="43" grpId="0" animBg="1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xmlns="" id="{31AE08E9-454B-4E26-BEAA-B65E374368E3}"/>
              </a:ext>
            </a:extLst>
          </p:cNvPr>
          <p:cNvCxnSpPr/>
          <p:nvPr/>
        </p:nvCxnSpPr>
        <p:spPr>
          <a:xfrm>
            <a:off x="6268720" y="3996690"/>
            <a:ext cx="9525" cy="318135"/>
          </a:xfrm>
          <a:prstGeom prst="straightConnector1">
            <a:avLst/>
          </a:prstGeom>
          <a:noFill/>
          <a:ln w="25400" cap="flat" cmpd="sng" algn="ctr">
            <a:solidFill>
              <a:srgbClr val="00B05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16957515-0981-4CF3-A4B3-F810F85B7070}"/>
              </a:ext>
            </a:extLst>
          </p:cNvPr>
          <p:cNvCxnSpPr/>
          <p:nvPr/>
        </p:nvCxnSpPr>
        <p:spPr>
          <a:xfrm>
            <a:off x="5591175" y="1657985"/>
            <a:ext cx="0" cy="49085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0BAFB34A-0057-4DE4-AE42-3388D92514F3}"/>
              </a:ext>
            </a:extLst>
          </p:cNvPr>
          <p:cNvCxnSpPr/>
          <p:nvPr/>
        </p:nvCxnSpPr>
        <p:spPr>
          <a:xfrm>
            <a:off x="2802255" y="2249805"/>
            <a:ext cx="9525" cy="318135"/>
          </a:xfrm>
          <a:prstGeom prst="straightConnector1">
            <a:avLst/>
          </a:prstGeom>
          <a:noFill/>
          <a:ln w="25400" cap="flat" cmpd="sng" algn="ctr">
            <a:solidFill>
              <a:srgbClr val="00B05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7F7AD32-6720-4C03-9BD6-540662FEBCE5}"/>
              </a:ext>
            </a:extLst>
          </p:cNvPr>
          <p:cNvSpPr/>
          <p:nvPr/>
        </p:nvSpPr>
        <p:spPr>
          <a:xfrm>
            <a:off x="1767840" y="2566670"/>
            <a:ext cx="2202815" cy="6477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B28F0C8-A5FB-4540-AF08-B60A0F5E0ABD}"/>
              </a:ext>
            </a:extLst>
          </p:cNvPr>
          <p:cNvSpPr/>
          <p:nvPr/>
        </p:nvSpPr>
        <p:spPr>
          <a:xfrm rot="16200000">
            <a:off x="4417695" y="2741930"/>
            <a:ext cx="1700530" cy="647700"/>
          </a:xfrm>
          <a:prstGeom prst="rect">
            <a:avLst/>
          </a:prstGeom>
          <a:solidFill>
            <a:srgbClr val="A0F8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endParaRPr lang="en-US"/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xmlns="" id="{5BF28B3B-2CA7-4607-83F7-EBBEAC003158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4657090" y="2801860"/>
            <a:ext cx="126682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AbDit</a:t>
            </a:r>
            <a:endParaRPr kumimoji="0" lang="fa-I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1483426-FFF5-4EE6-A292-CCF373D4B40D}"/>
              </a:ext>
            </a:extLst>
          </p:cNvPr>
          <p:cNvSpPr/>
          <p:nvPr/>
        </p:nvSpPr>
        <p:spPr>
          <a:xfrm>
            <a:off x="4464685" y="1044575"/>
            <a:ext cx="2980690" cy="613410"/>
          </a:xfrm>
          <a:prstGeom prst="rect">
            <a:avLst/>
          </a:prstGeom>
          <a:solidFill>
            <a:schemeClr val="bg1"/>
          </a:solidFill>
          <a:ln w="3175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11" name="Text Box 66">
            <a:extLst>
              <a:ext uri="{FF2B5EF4-FFF2-40B4-BE49-F238E27FC236}">
                <a16:creationId xmlns:a16="http://schemas.microsoft.com/office/drawing/2014/main" xmlns="" id="{2C5FA3CA-8112-49C6-B0DB-2DF37C20C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1681" y="1132408"/>
            <a:ext cx="288817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شرکت آب و فاضلاب 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36">
            <a:extLst>
              <a:ext uri="{FF2B5EF4-FFF2-40B4-BE49-F238E27FC236}">
                <a16:creationId xmlns:a16="http://schemas.microsoft.com/office/drawing/2014/main" xmlns="" id="{96C81006-DF3B-4F21-843A-FB16C535B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654" y="2653842"/>
            <a:ext cx="14763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مصرف کننده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CF2693EB-A2C9-4C5E-AB94-B221E017A627}"/>
              </a:ext>
            </a:extLst>
          </p:cNvPr>
          <p:cNvSpPr/>
          <p:nvPr/>
        </p:nvSpPr>
        <p:spPr>
          <a:xfrm>
            <a:off x="4171950" y="4324350"/>
            <a:ext cx="3571875" cy="1595755"/>
          </a:xfrm>
          <a:prstGeom prst="rect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B4E2FEFA-877E-467C-9391-95444ECF8FDF}"/>
              </a:ext>
            </a:extLst>
          </p:cNvPr>
          <p:cNvSpPr/>
          <p:nvPr/>
        </p:nvSpPr>
        <p:spPr>
          <a:xfrm>
            <a:off x="4304030" y="4474845"/>
            <a:ext cx="1560830" cy="428625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DB277233-34CB-4A91-941B-BA71AE4F7D0A}"/>
              </a:ext>
            </a:extLst>
          </p:cNvPr>
          <p:cNvSpPr/>
          <p:nvPr/>
        </p:nvSpPr>
        <p:spPr>
          <a:xfrm>
            <a:off x="5969000" y="4467860"/>
            <a:ext cx="1568450" cy="4286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C696C848-A3E3-48AC-AE18-BD7E85A4D120}"/>
              </a:ext>
            </a:extLst>
          </p:cNvPr>
          <p:cNvSpPr/>
          <p:nvPr/>
        </p:nvSpPr>
        <p:spPr>
          <a:xfrm>
            <a:off x="6648450" y="5019040"/>
            <a:ext cx="2202815" cy="314325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F87889B1-835E-4840-A8CE-947162B65645}"/>
              </a:ext>
            </a:extLst>
          </p:cNvPr>
          <p:cNvSpPr/>
          <p:nvPr/>
        </p:nvSpPr>
        <p:spPr>
          <a:xfrm>
            <a:off x="6649720" y="5414645"/>
            <a:ext cx="2202815" cy="272415"/>
          </a:xfrm>
          <a:prstGeom prst="rect">
            <a:avLst/>
          </a:prstGeom>
          <a:solidFill>
            <a:schemeClr val="bg1"/>
          </a:solidFill>
          <a:ln w="317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18" name="Text Box 9">
            <a:extLst>
              <a:ext uri="{FF2B5EF4-FFF2-40B4-BE49-F238E27FC236}">
                <a16:creationId xmlns:a16="http://schemas.microsoft.com/office/drawing/2014/main" xmlns="" id="{92F14340-997E-4033-ACDF-2CCA54672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8200" y="5001683"/>
            <a:ext cx="1327150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ممیز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Box 10">
            <a:extLst>
              <a:ext uri="{FF2B5EF4-FFF2-40B4-BE49-F238E27FC236}">
                <a16:creationId xmlns:a16="http://schemas.microsoft.com/office/drawing/2014/main" xmlns="" id="{6C147A13-3B63-47F0-89E7-B56B0DE2F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5175" y="4491011"/>
            <a:ext cx="14668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تامین کننده تجهیزات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xmlns="" id="{53033372-85DC-4BD9-A02C-41B2920B5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2732" y="4538501"/>
            <a:ext cx="14668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تامین کننده سرمایه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Box 12">
            <a:extLst>
              <a:ext uri="{FF2B5EF4-FFF2-40B4-BE49-F238E27FC236}">
                <a16:creationId xmlns:a16="http://schemas.microsoft.com/office/drawing/2014/main" xmlns="" id="{5EB4F7ED-25BA-4821-8762-053DD8F5A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6139" y="5386242"/>
            <a:ext cx="96678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مجری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Box 13">
            <a:extLst>
              <a:ext uri="{FF2B5EF4-FFF2-40B4-BE49-F238E27FC236}">
                <a16:creationId xmlns:a16="http://schemas.microsoft.com/office/drawing/2014/main" xmlns="" id="{001B6214-DC58-4771-A016-ADCD47F30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0" y="5200650"/>
            <a:ext cx="963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WSCO</a:t>
            </a:r>
            <a:endParaRPr kumimoji="0" lang="fa-I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0061222-6422-4589-8F90-CC63DFF8FC06}"/>
              </a:ext>
            </a:extLst>
          </p:cNvPr>
          <p:cNvSpPr/>
          <p:nvPr/>
        </p:nvSpPr>
        <p:spPr>
          <a:xfrm>
            <a:off x="5596255" y="2230120"/>
            <a:ext cx="2202815" cy="284480"/>
          </a:xfrm>
          <a:prstGeom prst="rect">
            <a:avLst/>
          </a:prstGeom>
          <a:solidFill>
            <a:srgbClr val="A0F8DB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3E1C9112-A8A7-4DAB-877A-1099C31DBDB2}"/>
              </a:ext>
            </a:extLst>
          </p:cNvPr>
          <p:cNvSpPr/>
          <p:nvPr/>
        </p:nvSpPr>
        <p:spPr>
          <a:xfrm>
            <a:off x="5594985" y="2567305"/>
            <a:ext cx="2202815" cy="284480"/>
          </a:xfrm>
          <a:prstGeom prst="rect">
            <a:avLst/>
          </a:prstGeom>
          <a:solidFill>
            <a:srgbClr val="A0F8DB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41A51000-C0CF-4662-92A3-09E728412634}"/>
              </a:ext>
            </a:extLst>
          </p:cNvPr>
          <p:cNvSpPr/>
          <p:nvPr/>
        </p:nvSpPr>
        <p:spPr>
          <a:xfrm>
            <a:off x="5598160" y="2931795"/>
            <a:ext cx="2202815" cy="284480"/>
          </a:xfrm>
          <a:prstGeom prst="rect">
            <a:avLst/>
          </a:prstGeom>
          <a:solidFill>
            <a:srgbClr val="A0F8DB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AF28FF1B-99D5-4D2D-BA27-F3C8DA4E729F}"/>
              </a:ext>
            </a:extLst>
          </p:cNvPr>
          <p:cNvSpPr/>
          <p:nvPr/>
        </p:nvSpPr>
        <p:spPr>
          <a:xfrm>
            <a:off x="5596255" y="3282950"/>
            <a:ext cx="2202815" cy="284480"/>
          </a:xfrm>
          <a:prstGeom prst="rect">
            <a:avLst/>
          </a:prstGeom>
          <a:solidFill>
            <a:srgbClr val="A0F8DB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4E5957DF-4D5A-447D-8A91-CC5360CEE832}"/>
              </a:ext>
            </a:extLst>
          </p:cNvPr>
          <p:cNvSpPr/>
          <p:nvPr/>
        </p:nvSpPr>
        <p:spPr>
          <a:xfrm>
            <a:off x="5601335" y="3636010"/>
            <a:ext cx="2202815" cy="284480"/>
          </a:xfrm>
          <a:prstGeom prst="rect">
            <a:avLst/>
          </a:prstGeom>
          <a:solidFill>
            <a:srgbClr val="A0F8DB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28" name="Text Box 20">
            <a:extLst>
              <a:ext uri="{FF2B5EF4-FFF2-40B4-BE49-F238E27FC236}">
                <a16:creationId xmlns:a16="http://schemas.microsoft.com/office/drawing/2014/main" xmlns="" id="{64C63688-6FC8-449C-ADB8-2E9A94915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0794" y="2226659"/>
            <a:ext cx="1466850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مقایسه با استانداردها 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Box 21">
            <a:extLst>
              <a:ext uri="{FF2B5EF4-FFF2-40B4-BE49-F238E27FC236}">
                <a16:creationId xmlns:a16="http://schemas.microsoft.com/office/drawing/2014/main" xmlns="" id="{C4028777-60FD-41AB-AA52-EEDC99CD5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4174" y="2536031"/>
            <a:ext cx="2120900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مقایسه با سایر شهرهای مشابه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Box 22">
            <a:extLst>
              <a:ext uri="{FF2B5EF4-FFF2-40B4-BE49-F238E27FC236}">
                <a16:creationId xmlns:a16="http://schemas.microsoft.com/office/drawing/2014/main" xmlns="" id="{28DAD71F-9A9B-4060-B51B-0F16AE3B6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5450" y="2909503"/>
            <a:ext cx="1898650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بررسی منابع آب موجود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Box 23">
            <a:extLst>
              <a:ext uri="{FF2B5EF4-FFF2-40B4-BE49-F238E27FC236}">
                <a16:creationId xmlns:a16="http://schemas.microsoft.com/office/drawing/2014/main" xmlns="" id="{BCAF4DE1-E603-4F72-A2F6-EB26EBECA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6160" y="3272155"/>
            <a:ext cx="12192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طبقه‌بندی و اعلام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Box 24">
            <a:extLst>
              <a:ext uri="{FF2B5EF4-FFF2-40B4-BE49-F238E27FC236}">
                <a16:creationId xmlns:a16="http://schemas.microsoft.com/office/drawing/2014/main" xmlns="" id="{82EC251D-1E0D-4066-A900-FCF02A5E9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7030" y="3636168"/>
            <a:ext cx="1009650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مدیریت دانش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802FC4C1-A48B-4616-A2BA-F936771BF3E2}"/>
              </a:ext>
            </a:extLst>
          </p:cNvPr>
          <p:cNvSpPr/>
          <p:nvPr/>
        </p:nvSpPr>
        <p:spPr>
          <a:xfrm>
            <a:off x="4830445" y="2139315"/>
            <a:ext cx="3155315" cy="1863090"/>
          </a:xfrm>
          <a:prstGeom prst="rect">
            <a:avLst/>
          </a:prstGeom>
          <a:noFill/>
          <a:ln w="41275" cap="flat" cmpd="sng" algn="ctr">
            <a:solidFill>
              <a:srgbClr val="37895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cxnSp>
        <p:nvCxnSpPr>
          <p:cNvPr id="34" name="Elbow Connector 53">
            <a:extLst>
              <a:ext uri="{FF2B5EF4-FFF2-40B4-BE49-F238E27FC236}">
                <a16:creationId xmlns:a16="http://schemas.microsoft.com/office/drawing/2014/main" xmlns="" id="{BD8D38B3-02AB-49D0-843B-23A35474D526}"/>
              </a:ext>
            </a:extLst>
          </p:cNvPr>
          <p:cNvCxnSpPr/>
          <p:nvPr/>
        </p:nvCxnSpPr>
        <p:spPr>
          <a:xfrm rot="10800000" flipV="1">
            <a:off x="1756410" y="1163320"/>
            <a:ext cx="2686685" cy="1508125"/>
          </a:xfrm>
          <a:prstGeom prst="bentConnector3">
            <a:avLst>
              <a:gd name="adj1" fmla="val 149752"/>
            </a:avLst>
          </a:prstGeom>
          <a:ln w="317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xmlns="" id="{4711DBB9-F25D-4A68-958D-DFAE624AE1E0}"/>
              </a:ext>
            </a:extLst>
          </p:cNvPr>
          <p:cNvSpPr/>
          <p:nvPr/>
        </p:nvSpPr>
        <p:spPr>
          <a:xfrm>
            <a:off x="688340" y="2776220"/>
            <a:ext cx="301625" cy="2667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2B4F2CD8-CFDE-4579-8CC7-1642BA84E9C0}"/>
              </a:ext>
            </a:extLst>
          </p:cNvPr>
          <p:cNvCxnSpPr/>
          <p:nvPr/>
        </p:nvCxnSpPr>
        <p:spPr>
          <a:xfrm flipV="1">
            <a:off x="819150" y="2854960"/>
            <a:ext cx="146050" cy="77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47279EF2-4406-4A21-9BDB-5745480F42AF}"/>
              </a:ext>
            </a:extLst>
          </p:cNvPr>
          <p:cNvSpPr/>
          <p:nvPr/>
        </p:nvSpPr>
        <p:spPr>
          <a:xfrm>
            <a:off x="426085" y="3688080"/>
            <a:ext cx="1568450" cy="42862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0EEDD661-ABBB-4E5F-A947-D1437415C17E}"/>
              </a:ext>
            </a:extLst>
          </p:cNvPr>
          <p:cNvSpPr/>
          <p:nvPr/>
        </p:nvSpPr>
        <p:spPr>
          <a:xfrm>
            <a:off x="326390" y="4528820"/>
            <a:ext cx="3155315" cy="1336040"/>
          </a:xfrm>
          <a:prstGeom prst="rect">
            <a:avLst/>
          </a:prstGeom>
          <a:noFill/>
          <a:ln w="41275" cap="flat" cmpd="sng" algn="ctr">
            <a:solidFill>
              <a:srgbClr val="7030A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1862EBDB-3B80-43E2-B137-E9651482909D}"/>
              </a:ext>
            </a:extLst>
          </p:cNvPr>
          <p:cNvSpPr/>
          <p:nvPr/>
        </p:nvSpPr>
        <p:spPr>
          <a:xfrm rot="16200000">
            <a:off x="169227" y="4851083"/>
            <a:ext cx="1155065" cy="6477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40" name="Text Box 20">
            <a:extLst>
              <a:ext uri="{FF2B5EF4-FFF2-40B4-BE49-F238E27FC236}">
                <a16:creationId xmlns:a16="http://schemas.microsoft.com/office/drawing/2014/main" xmlns="" id="{8CC1833B-3F46-485E-AC98-B0626DE780AD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47843" y="4955065"/>
            <a:ext cx="1206500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موسسه آموزشی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71DB98AB-1D34-4AEE-B5A1-478C5BE20A89}"/>
              </a:ext>
            </a:extLst>
          </p:cNvPr>
          <p:cNvSpPr/>
          <p:nvPr/>
        </p:nvSpPr>
        <p:spPr>
          <a:xfrm>
            <a:off x="1171575" y="4611370"/>
            <a:ext cx="2202815" cy="284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79CAF201-77AB-48F5-A84A-E86AB339B948}"/>
              </a:ext>
            </a:extLst>
          </p:cNvPr>
          <p:cNvSpPr/>
          <p:nvPr/>
        </p:nvSpPr>
        <p:spPr>
          <a:xfrm>
            <a:off x="1171575" y="5017135"/>
            <a:ext cx="2202815" cy="284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C2FF3450-CBE3-4685-94D2-F9C06FC45550}"/>
              </a:ext>
            </a:extLst>
          </p:cNvPr>
          <p:cNvSpPr/>
          <p:nvPr/>
        </p:nvSpPr>
        <p:spPr>
          <a:xfrm>
            <a:off x="1171575" y="5405120"/>
            <a:ext cx="2202815" cy="284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44" name="Text Box 44">
            <a:extLst>
              <a:ext uri="{FF2B5EF4-FFF2-40B4-BE49-F238E27FC236}">
                <a16:creationId xmlns:a16="http://schemas.microsoft.com/office/drawing/2014/main" xmlns="" id="{5492E917-D9BB-408C-B2BE-E1777FE94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297" y="4617720"/>
            <a:ext cx="2381250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دوره کسب و کار مدیریت مصرف آب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WSCO</a:t>
            </a:r>
            <a:r>
              <a:rPr kumimoji="0" lang="fa-IR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Box 45">
            <a:extLst>
              <a:ext uri="{FF2B5EF4-FFF2-40B4-BE49-F238E27FC236}">
                <a16:creationId xmlns:a16="http://schemas.microsoft.com/office/drawing/2014/main" xmlns="" id="{D00EE3DA-2888-4C96-A56B-19628A598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" y="4957127"/>
            <a:ext cx="2060575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دوره تربیت ممیز آب 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Box 46">
            <a:extLst>
              <a:ext uri="{FF2B5EF4-FFF2-40B4-BE49-F238E27FC236}">
                <a16:creationId xmlns:a16="http://schemas.microsoft.com/office/drawing/2014/main" xmlns="" id="{A4369657-F678-41D1-AD83-7B5E35E5C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679" y="5383591"/>
            <a:ext cx="2139950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دوره مدیریت جامع آب شهری 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Box 47">
            <a:extLst>
              <a:ext uri="{FF2B5EF4-FFF2-40B4-BE49-F238E27FC236}">
                <a16:creationId xmlns:a16="http://schemas.microsoft.com/office/drawing/2014/main" xmlns="" id="{7B244FFA-7EE8-4B5F-A97C-D14980D60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" y="3761611"/>
            <a:ext cx="1612901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پذیرنده ریسک سرمایه 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xmlns="" id="{E07AAD74-1EE8-4527-9041-F50E1EBC56E3}"/>
              </a:ext>
            </a:extLst>
          </p:cNvPr>
          <p:cNvCxnSpPr/>
          <p:nvPr/>
        </p:nvCxnSpPr>
        <p:spPr>
          <a:xfrm>
            <a:off x="3545840" y="5218430"/>
            <a:ext cx="610870" cy="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2C7AA56B-D313-4FF7-92B2-3C4CCDBA250D}"/>
              </a:ext>
            </a:extLst>
          </p:cNvPr>
          <p:cNvSpPr/>
          <p:nvPr/>
        </p:nvSpPr>
        <p:spPr>
          <a:xfrm>
            <a:off x="7896860" y="4239260"/>
            <a:ext cx="2362835" cy="378460"/>
          </a:xfrm>
          <a:prstGeom prst="rect">
            <a:avLst/>
          </a:prstGeom>
          <a:solidFill>
            <a:schemeClr val="bg1"/>
          </a:solidFill>
          <a:ln w="34925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50" name="Text Box 51">
            <a:extLst>
              <a:ext uri="{FF2B5EF4-FFF2-40B4-BE49-F238E27FC236}">
                <a16:creationId xmlns:a16="http://schemas.microsoft.com/office/drawing/2014/main" xmlns="" id="{2DDB462D-6BF9-499E-8AD5-EB03E514A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4038" y="4256099"/>
            <a:ext cx="2424113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طرح کمینه‌سازی مصرف آب و هزینه  </a:t>
            </a:r>
            <a:endParaRPr kumimoji="0" lang="fa-I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xmlns="" id="{94C22894-FC32-42AB-9306-20C1C5C604B3}"/>
              </a:ext>
            </a:extLst>
          </p:cNvPr>
          <p:cNvCxnSpPr/>
          <p:nvPr/>
        </p:nvCxnSpPr>
        <p:spPr>
          <a:xfrm>
            <a:off x="5288915" y="4007485"/>
            <a:ext cx="9525" cy="318135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32">
            <a:extLst>
              <a:ext uri="{FF2B5EF4-FFF2-40B4-BE49-F238E27FC236}">
                <a16:creationId xmlns:a16="http://schemas.microsoft.com/office/drawing/2014/main" xmlns="" id="{513E6DEC-D10D-40FF-835E-CEF62A2851BF}"/>
              </a:ext>
            </a:extLst>
          </p:cNvPr>
          <p:cNvCxnSpPr/>
          <p:nvPr/>
        </p:nvCxnSpPr>
        <p:spPr>
          <a:xfrm>
            <a:off x="1175385" y="2671445"/>
            <a:ext cx="3596005" cy="901065"/>
          </a:xfrm>
          <a:prstGeom prst="bentConnector3">
            <a:avLst>
              <a:gd name="adj1" fmla="val 121"/>
            </a:avLst>
          </a:prstGeom>
          <a:ln w="254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xmlns="" id="{3CC3ED7B-7033-46DC-AAC6-5CE4B27E509D}"/>
              </a:ext>
            </a:extLst>
          </p:cNvPr>
          <p:cNvCxnSpPr/>
          <p:nvPr/>
        </p:nvCxnSpPr>
        <p:spPr>
          <a:xfrm flipH="1" flipV="1">
            <a:off x="8553450" y="4627880"/>
            <a:ext cx="9525" cy="38227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37">
            <a:extLst>
              <a:ext uri="{FF2B5EF4-FFF2-40B4-BE49-F238E27FC236}">
                <a16:creationId xmlns:a16="http://schemas.microsoft.com/office/drawing/2014/main" xmlns="" id="{1D1FFEF3-8CD8-44AC-BB88-7C92AFF45E85}"/>
              </a:ext>
            </a:extLst>
          </p:cNvPr>
          <p:cNvCxnSpPr/>
          <p:nvPr/>
        </p:nvCxnSpPr>
        <p:spPr>
          <a:xfrm flipH="1" flipV="1">
            <a:off x="7980045" y="3027680"/>
            <a:ext cx="569595" cy="1210945"/>
          </a:xfrm>
          <a:prstGeom prst="bentConnector3">
            <a:avLst>
              <a:gd name="adj1" fmla="val 225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xmlns="" id="{BEFE779F-2FD9-416B-8841-5C6C5B462AA3}"/>
              </a:ext>
            </a:extLst>
          </p:cNvPr>
          <p:cNvCxnSpPr/>
          <p:nvPr/>
        </p:nvCxnSpPr>
        <p:spPr>
          <a:xfrm flipH="1">
            <a:off x="3974465" y="3011805"/>
            <a:ext cx="826135" cy="444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6">
            <a:extLst>
              <a:ext uri="{FF2B5EF4-FFF2-40B4-BE49-F238E27FC236}">
                <a16:creationId xmlns:a16="http://schemas.microsoft.com/office/drawing/2014/main" xmlns="" id="{09746F51-9C58-47AD-8456-703154F2280B}"/>
              </a:ext>
            </a:extLst>
          </p:cNvPr>
          <p:cNvCxnSpPr/>
          <p:nvPr/>
        </p:nvCxnSpPr>
        <p:spPr>
          <a:xfrm>
            <a:off x="2801620" y="3221355"/>
            <a:ext cx="2035175" cy="552450"/>
          </a:xfrm>
          <a:prstGeom prst="bentConnector3">
            <a:avLst>
              <a:gd name="adj1" fmla="val 1383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7">
            <a:extLst>
              <a:ext uri="{FF2B5EF4-FFF2-40B4-BE49-F238E27FC236}">
                <a16:creationId xmlns:a16="http://schemas.microsoft.com/office/drawing/2014/main" xmlns="" id="{5B5DBB71-FEFB-4EFE-A394-B2908C23E038}"/>
              </a:ext>
            </a:extLst>
          </p:cNvPr>
          <p:cNvCxnSpPr/>
          <p:nvPr/>
        </p:nvCxnSpPr>
        <p:spPr>
          <a:xfrm>
            <a:off x="1170940" y="4114800"/>
            <a:ext cx="3000375" cy="285750"/>
          </a:xfrm>
          <a:prstGeom prst="bentConnector3">
            <a:avLst>
              <a:gd name="adj1" fmla="val -159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60">
            <a:extLst>
              <a:ext uri="{FF2B5EF4-FFF2-40B4-BE49-F238E27FC236}">
                <a16:creationId xmlns:a16="http://schemas.microsoft.com/office/drawing/2014/main" xmlns="" id="{6BF3FACC-D30A-4074-B498-E5E5291FC2DC}"/>
              </a:ext>
            </a:extLst>
          </p:cNvPr>
          <p:cNvCxnSpPr/>
          <p:nvPr/>
        </p:nvCxnSpPr>
        <p:spPr>
          <a:xfrm flipV="1">
            <a:off x="818515" y="1314450"/>
            <a:ext cx="3634105" cy="1457325"/>
          </a:xfrm>
          <a:prstGeom prst="bentConnector3">
            <a:avLst>
              <a:gd name="adj1" fmla="val 201"/>
            </a:avLst>
          </a:prstGeom>
          <a:ln w="25400">
            <a:solidFill>
              <a:srgbClr val="FFC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29">
            <a:extLst>
              <a:ext uri="{FF2B5EF4-FFF2-40B4-BE49-F238E27FC236}">
                <a16:creationId xmlns:a16="http://schemas.microsoft.com/office/drawing/2014/main" xmlns="" id="{B5631B63-D709-492D-947C-818004DC1440}"/>
              </a:ext>
            </a:extLst>
          </p:cNvPr>
          <p:cNvCxnSpPr/>
          <p:nvPr/>
        </p:nvCxnSpPr>
        <p:spPr>
          <a:xfrm flipH="1" flipV="1">
            <a:off x="7991475" y="2766695"/>
            <a:ext cx="866140" cy="2778760"/>
          </a:xfrm>
          <a:prstGeom prst="bentConnector3">
            <a:avLst>
              <a:gd name="adj1" fmla="val -181511"/>
            </a:avLst>
          </a:prstGeom>
          <a:noFill/>
          <a:ln w="25400" cap="flat" cmpd="sng" algn="ctr">
            <a:solidFill>
              <a:srgbClr val="00B05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xmlns="" id="{4AF7271F-0D3E-4949-B150-F0250125AACF}"/>
              </a:ext>
            </a:extLst>
          </p:cNvPr>
          <p:cNvSpPr/>
          <p:nvPr/>
        </p:nvSpPr>
        <p:spPr>
          <a:xfrm>
            <a:off x="9001125" y="3348355"/>
            <a:ext cx="1597025" cy="292735"/>
          </a:xfrm>
          <a:prstGeom prst="rect">
            <a:avLst/>
          </a:prstGeom>
          <a:solidFill>
            <a:schemeClr val="bg1"/>
          </a:solidFill>
          <a:ln w="3492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62" name="Text Box 34">
            <a:extLst>
              <a:ext uri="{FF2B5EF4-FFF2-40B4-BE49-F238E27FC236}">
                <a16:creationId xmlns:a16="http://schemas.microsoft.com/office/drawing/2014/main" xmlns="" id="{D5BA66AC-8075-48C5-9C98-BB9F97152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3337" y="3336358"/>
            <a:ext cx="160337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نصب تجهیزات کاهنده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xmlns="" id="{17FA20E6-BFC9-478F-A67D-44E0BDC81B09}"/>
              </a:ext>
            </a:extLst>
          </p:cNvPr>
          <p:cNvCxnSpPr/>
          <p:nvPr/>
        </p:nvCxnSpPr>
        <p:spPr>
          <a:xfrm flipH="1">
            <a:off x="3936365" y="2214880"/>
            <a:ext cx="826135" cy="4445"/>
          </a:xfrm>
          <a:prstGeom prst="straightConnector1">
            <a:avLst/>
          </a:prstGeom>
          <a:noFill/>
          <a:ln w="25400" cap="flat" cmpd="sng" algn="ctr">
            <a:solidFill>
              <a:srgbClr val="00B05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xmlns="" id="{146DA4E6-82F7-45F5-BBA1-EAD41A4901BD}"/>
              </a:ext>
            </a:extLst>
          </p:cNvPr>
          <p:cNvSpPr/>
          <p:nvPr/>
        </p:nvSpPr>
        <p:spPr>
          <a:xfrm>
            <a:off x="1751330" y="2077720"/>
            <a:ext cx="2190750" cy="296545"/>
          </a:xfrm>
          <a:prstGeom prst="rect">
            <a:avLst/>
          </a:prstGeom>
          <a:solidFill>
            <a:sysClr val="window" lastClr="FFFFFF"/>
          </a:solidFill>
          <a:ln w="3492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65" name="Text Box 55">
            <a:extLst>
              <a:ext uri="{FF2B5EF4-FFF2-40B4-BE49-F238E27FC236}">
                <a16:creationId xmlns:a16="http://schemas.microsoft.com/office/drawing/2014/main" xmlns="" id="{3F4B8CB5-ECB7-4EC6-9A4D-D4E8F3859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0864" y="2068829"/>
            <a:ext cx="1931987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اعلام هزینه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xmlns="" id="{871488E2-CAB8-4EEB-8336-00EB678C2DE3}"/>
              </a:ext>
            </a:extLst>
          </p:cNvPr>
          <p:cNvSpPr/>
          <p:nvPr/>
        </p:nvSpPr>
        <p:spPr>
          <a:xfrm>
            <a:off x="519430" y="1495425"/>
            <a:ext cx="1175385" cy="307975"/>
          </a:xfrm>
          <a:prstGeom prst="rect">
            <a:avLst/>
          </a:prstGeom>
          <a:solidFill>
            <a:sysClr val="window" lastClr="FFFFFF"/>
          </a:solidFill>
          <a:ln w="3492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67" name="Text Box 61">
            <a:extLst>
              <a:ext uri="{FF2B5EF4-FFF2-40B4-BE49-F238E27FC236}">
                <a16:creationId xmlns:a16="http://schemas.microsoft.com/office/drawing/2014/main" xmlns="" id="{81B5EA66-6151-4978-ABA4-E940C98F4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58" y="1497533"/>
            <a:ext cx="962025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قرائت کنتور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xmlns="" id="{7C668F0E-0D88-4C9E-936F-B9D3A513A82E}"/>
              </a:ext>
            </a:extLst>
          </p:cNvPr>
          <p:cNvSpPr/>
          <p:nvPr/>
        </p:nvSpPr>
        <p:spPr>
          <a:xfrm>
            <a:off x="1529080" y="939165"/>
            <a:ext cx="1175385" cy="307975"/>
          </a:xfrm>
          <a:prstGeom prst="rect">
            <a:avLst/>
          </a:prstGeom>
          <a:solidFill>
            <a:sysClr val="window" lastClr="FFFFFF"/>
          </a:solidFill>
          <a:ln w="34925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69" name="Text Box 62">
            <a:extLst>
              <a:ext uri="{FF2B5EF4-FFF2-40B4-BE49-F238E27FC236}">
                <a16:creationId xmlns:a16="http://schemas.microsoft.com/office/drawing/2014/main" xmlns="" id="{D460CBF2-37C4-426B-BBC7-E0D2B6B3B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2872" y="930629"/>
            <a:ext cx="1473814" cy="243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صدور قبض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0" name="Elbow Connector 196">
            <a:extLst>
              <a:ext uri="{FF2B5EF4-FFF2-40B4-BE49-F238E27FC236}">
                <a16:creationId xmlns:a16="http://schemas.microsoft.com/office/drawing/2014/main" xmlns="" id="{F6F35E04-878A-4183-A1EE-5D5ED3BBD609}"/>
              </a:ext>
            </a:extLst>
          </p:cNvPr>
          <p:cNvCxnSpPr/>
          <p:nvPr/>
        </p:nvCxnSpPr>
        <p:spPr>
          <a:xfrm flipH="1" flipV="1">
            <a:off x="3709670" y="3211830"/>
            <a:ext cx="474980" cy="1305560"/>
          </a:xfrm>
          <a:prstGeom prst="bentConnector3">
            <a:avLst>
              <a:gd name="adj1" fmla="val 101258"/>
            </a:avLst>
          </a:prstGeom>
          <a:ln w="254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xmlns="" id="{287A5C2E-6B65-40C4-9757-4FFC47EF6235}"/>
              </a:ext>
            </a:extLst>
          </p:cNvPr>
          <p:cNvSpPr/>
          <p:nvPr/>
        </p:nvSpPr>
        <p:spPr>
          <a:xfrm>
            <a:off x="2781935" y="3907155"/>
            <a:ext cx="1175385" cy="307975"/>
          </a:xfrm>
          <a:prstGeom prst="rect">
            <a:avLst/>
          </a:prstGeom>
          <a:solidFill>
            <a:sysClr val="window" lastClr="FFFFFF"/>
          </a:solidFill>
          <a:ln w="34925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72" name="Text Box 198">
            <a:extLst>
              <a:ext uri="{FF2B5EF4-FFF2-40B4-BE49-F238E27FC236}">
                <a16:creationId xmlns:a16="http://schemas.microsoft.com/office/drawing/2014/main" xmlns="" id="{06A0D3BC-4819-4BAF-A693-506FD5968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9107" y="3887947"/>
            <a:ext cx="1931988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ممیزی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xmlns="" id="{E8384728-076C-4736-A999-5C16D39CA6CC}"/>
              </a:ext>
            </a:extLst>
          </p:cNvPr>
          <p:cNvCxnSpPr/>
          <p:nvPr/>
        </p:nvCxnSpPr>
        <p:spPr>
          <a:xfrm>
            <a:off x="5619115" y="4006850"/>
            <a:ext cx="9525" cy="318135"/>
          </a:xfrm>
          <a:prstGeom prst="straightConnector1">
            <a:avLst/>
          </a:prstGeom>
          <a:noFill/>
          <a:ln w="25400" cap="flat" cmpd="sng" algn="ctr">
            <a:solidFill>
              <a:srgbClr val="00206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xmlns="" id="{CF794045-BCF7-4BB9-9555-7BB79A29BE7B}"/>
              </a:ext>
            </a:extLst>
          </p:cNvPr>
          <p:cNvCxnSpPr/>
          <p:nvPr/>
        </p:nvCxnSpPr>
        <p:spPr>
          <a:xfrm>
            <a:off x="5956300" y="3981450"/>
            <a:ext cx="9525" cy="318135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xmlns="" id="{65DE2AB2-3140-4848-8D0D-C9A78F6F7685}"/>
              </a:ext>
            </a:extLst>
          </p:cNvPr>
          <p:cNvCxnSpPr/>
          <p:nvPr/>
        </p:nvCxnSpPr>
        <p:spPr>
          <a:xfrm>
            <a:off x="3942080" y="2847975"/>
            <a:ext cx="871220" cy="0"/>
          </a:xfrm>
          <a:prstGeom prst="straightConnector1">
            <a:avLst/>
          </a:prstGeom>
          <a:ln w="317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192">
            <a:extLst>
              <a:ext uri="{FF2B5EF4-FFF2-40B4-BE49-F238E27FC236}">
                <a16:creationId xmlns:a16="http://schemas.microsoft.com/office/drawing/2014/main" xmlns="" id="{1609B9D5-9C67-4B11-8A49-B11873EED89B}"/>
              </a:ext>
            </a:extLst>
          </p:cNvPr>
          <p:cNvCxnSpPr/>
          <p:nvPr/>
        </p:nvCxnSpPr>
        <p:spPr>
          <a:xfrm flipV="1">
            <a:off x="2811780" y="1421130"/>
            <a:ext cx="1631950" cy="656590"/>
          </a:xfrm>
          <a:prstGeom prst="bentConnector3">
            <a:avLst>
              <a:gd name="adj1" fmla="val -937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195">
            <a:extLst>
              <a:ext uri="{FF2B5EF4-FFF2-40B4-BE49-F238E27FC236}">
                <a16:creationId xmlns:a16="http://schemas.microsoft.com/office/drawing/2014/main" xmlns="" id="{2046BD4E-BDBC-4198-85E1-7ED8368412B3}"/>
              </a:ext>
            </a:extLst>
          </p:cNvPr>
          <p:cNvCxnSpPr/>
          <p:nvPr/>
        </p:nvCxnSpPr>
        <p:spPr>
          <a:xfrm flipV="1">
            <a:off x="3977640" y="1519555"/>
            <a:ext cx="465455" cy="1183640"/>
          </a:xfrm>
          <a:prstGeom prst="bentConnector3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xmlns="" id="{B57A95F3-5E6C-4057-AABD-8505C4A4B6CE}"/>
              </a:ext>
            </a:extLst>
          </p:cNvPr>
          <p:cNvSpPr/>
          <p:nvPr/>
        </p:nvSpPr>
        <p:spPr>
          <a:xfrm>
            <a:off x="4108450" y="1744980"/>
            <a:ext cx="1656715" cy="296545"/>
          </a:xfrm>
          <a:prstGeom prst="rect">
            <a:avLst/>
          </a:prstGeom>
          <a:solidFill>
            <a:sysClr val="window" lastClr="FFFFFF"/>
          </a:solidFill>
          <a:ln w="3492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79" name="Text Box 201">
            <a:extLst>
              <a:ext uri="{FF2B5EF4-FFF2-40B4-BE49-F238E27FC236}">
                <a16:creationId xmlns:a16="http://schemas.microsoft.com/office/drawing/2014/main" xmlns="" id="{412237A7-3A15-4CB5-B947-9A1C72FBD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8035" y="1725540"/>
            <a:ext cx="628650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پرداخت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 Box 204">
            <a:extLst>
              <a:ext uri="{FF2B5EF4-FFF2-40B4-BE49-F238E27FC236}">
                <a16:creationId xmlns:a16="http://schemas.microsoft.com/office/drawing/2014/main" xmlns="" id="{02D5252E-8248-4253-B4C2-B4B2FEC79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8501" y="1712529"/>
            <a:ext cx="2019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1F4E7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AbDit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4E7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Platform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xmlns="" id="{9E0842E3-F893-4ED2-9900-7DAB0DD08645}"/>
              </a:ext>
            </a:extLst>
          </p:cNvPr>
          <p:cNvSpPr/>
          <p:nvPr/>
        </p:nvSpPr>
        <p:spPr>
          <a:xfrm>
            <a:off x="2077720" y="3277235"/>
            <a:ext cx="1017905" cy="201295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1" name="Text Box 206">
            <a:extLst>
              <a:ext uri="{FF2B5EF4-FFF2-40B4-BE49-F238E27FC236}">
                <a16:creationId xmlns:a16="http://schemas.microsoft.com/office/drawing/2014/main" xmlns="" id="{73FCFFD9-A94B-42B4-8A9E-12F887A55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596" y="3228306"/>
            <a:ext cx="873195" cy="230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تایید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xmlns="" id="{8E03D27B-4D98-4B38-ABCC-FA8E74E97B67}"/>
              </a:ext>
            </a:extLst>
          </p:cNvPr>
          <p:cNvCxnSpPr/>
          <p:nvPr/>
        </p:nvCxnSpPr>
        <p:spPr>
          <a:xfrm>
            <a:off x="989965" y="2933065"/>
            <a:ext cx="767080" cy="0"/>
          </a:xfrm>
          <a:prstGeom prst="line">
            <a:avLst/>
          </a:prstGeom>
          <a:ln w="190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xmlns="" id="{959AE50E-BC57-4503-9EE8-DABD78AF4F11}"/>
              </a:ext>
            </a:extLst>
          </p:cNvPr>
          <p:cNvSpPr/>
          <p:nvPr/>
        </p:nvSpPr>
        <p:spPr>
          <a:xfrm>
            <a:off x="6175375" y="4046855"/>
            <a:ext cx="1136650" cy="164465"/>
          </a:xfrm>
          <a:prstGeom prst="rect">
            <a:avLst/>
          </a:prstGeom>
          <a:solidFill>
            <a:sysClr val="window" lastClr="FFFFFF"/>
          </a:solidFill>
          <a:ln w="3492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1" anchor="ctr"/>
          <a:lstStyle/>
          <a:p>
            <a:endParaRPr lang="en-US"/>
          </a:p>
        </p:txBody>
      </p:sp>
      <p:sp>
        <p:nvSpPr>
          <p:cNvPr id="83" name="Text Box 209">
            <a:extLst>
              <a:ext uri="{FF2B5EF4-FFF2-40B4-BE49-F238E27FC236}">
                <a16:creationId xmlns:a16="http://schemas.microsoft.com/office/drawing/2014/main" xmlns="" id="{57CE2B2D-CCEE-4A50-934A-AD7A41A09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818" y="3950811"/>
            <a:ext cx="628650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پرداخت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xmlns="" id="{67253CAF-4F4E-4434-AB09-C90729BFF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8" name="Rectangle 114">
            <a:extLst>
              <a:ext uri="{FF2B5EF4-FFF2-40B4-BE49-F238E27FC236}">
                <a16:creationId xmlns:a16="http://schemas.microsoft.com/office/drawing/2014/main" xmlns="" id="{312814FB-67A5-44D0-8FCC-B9CAA7632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7" name="Picture 8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024" y="897971"/>
            <a:ext cx="1469278" cy="75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0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5" grpId="0" animBg="1"/>
      <p:bldP spid="49" grpId="0" animBg="1"/>
      <p:bldP spid="50" grpId="0"/>
      <p:bldP spid="61" grpId="0" animBg="1"/>
      <p:bldP spid="62" grpId="0"/>
      <p:bldP spid="64" grpId="0" animBg="1"/>
      <p:bldP spid="65" grpId="0"/>
      <p:bldP spid="66" grpId="0" animBg="1"/>
      <p:bldP spid="68" grpId="0" animBg="1"/>
      <p:bldP spid="69" grpId="0"/>
      <p:bldP spid="71" grpId="0" animBg="1"/>
      <p:bldP spid="72" grpId="0"/>
      <p:bldP spid="78" grpId="0" animBg="1"/>
      <p:bldP spid="79" grpId="0"/>
      <p:bldP spid="82" grpId="0" animBg="1"/>
      <p:bldP spid="81" grpId="0"/>
      <p:bldP spid="85" grpId="0" animBg="1"/>
      <p:bldP spid="8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914" y="693738"/>
            <a:ext cx="2081784" cy="107594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1769682"/>
            <a:ext cx="12148457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rtl="1">
              <a:spcBef>
                <a:spcPts val="0"/>
              </a:spcBef>
              <a:spcAft>
                <a:spcPts val="0"/>
              </a:spcAft>
            </a:pPr>
            <a:r>
              <a:rPr lang="fa-IR" sz="1600" b="1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Zar" panose="00000400000000000000" pitchFamily="2" charset="-78"/>
              </a:rPr>
              <a:t>                                                                                                                   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B Yagut" panose="00000400000000000000" pitchFamily="2" charset="-78"/>
            </a:endParaRPr>
          </a:p>
          <a:p>
            <a:pPr marL="800100" marR="540385" indent="-342900" algn="just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fa-IR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 </a:t>
            </a:r>
            <a:r>
              <a:rPr lang="fa-IR" sz="2000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یک جریان پایدار از ممیزی و مدیریت مصرف آب خانگی، تعداد قابل توجهی شغل پایدار مبتنی بر مدیریت مصرف آب در قالب ممیز- نصابان حقیقی، تولیدکنندگان تجهیزات و شرکت‌های مدیریت مصرف آب </a:t>
            </a:r>
            <a:r>
              <a:rPr lang="en-US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WSCO</a:t>
            </a:r>
            <a:r>
              <a:rPr lang="fa-IR" sz="2000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 </a:t>
            </a:r>
            <a:r>
              <a:rPr lang="fa-IR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ایجاد خواهد شد.</a:t>
            </a:r>
            <a:endParaRPr lang="fa-IR" sz="2000" dirty="0" smtClean="0">
              <a:effectLst>
                <a:outerShdw blurRad="50800" dist="38100" dir="2700000" algn="tl">
                  <a:srgbClr val="000000">
                    <a:alpha val="40000"/>
                  </a:srgbClr>
                </a:outerShdw>
              </a:effectLst>
              <a:latin typeface="B Zar" panose="00000400000000000000" pitchFamily="2" charset="-78"/>
              <a:ea typeface="Times New Roman" panose="02020603050405020304" pitchFamily="18" charset="0"/>
              <a:cs typeface="B Yagut" panose="00000400000000000000" pitchFamily="2" charset="-78"/>
            </a:endParaRPr>
          </a:p>
          <a:p>
            <a:pPr marL="800100" marR="540385" indent="-342900" algn="just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fa-IR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B Zar" panose="00000400000000000000" pitchFamily="2" charset="-78"/>
                <a:ea typeface="Times New Roman" panose="02020603050405020304" pitchFamily="18" charset="0"/>
                <a:cs typeface="B Yagut" panose="00000400000000000000" pitchFamily="2" charset="-78"/>
              </a:rPr>
              <a:t>این </a:t>
            </a:r>
            <a:r>
              <a:rPr lang="fa-IR" sz="2000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B Zar" panose="00000400000000000000" pitchFamily="2" charset="-78"/>
                <a:ea typeface="Times New Roman" panose="02020603050405020304" pitchFamily="18" charset="0"/>
                <a:cs typeface="B Yagut" panose="00000400000000000000" pitchFamily="2" charset="-78"/>
              </a:rPr>
              <a:t>جریان پایدار ممیزی و نصب تجهیزات کاهنده، به لحاظ مالی خودگردان خواهد بود و دارای کمترین وابستگی به بودجه و امکانات دولتی </a:t>
            </a:r>
            <a:r>
              <a:rPr lang="fa-IR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B Zar" panose="00000400000000000000" pitchFamily="2" charset="-78"/>
                <a:ea typeface="Times New Roman" panose="02020603050405020304" pitchFamily="18" charset="0"/>
                <a:cs typeface="B Yagut" panose="00000400000000000000" pitchFamily="2" charset="-78"/>
              </a:rPr>
              <a:t>می‌باشد.</a:t>
            </a:r>
          </a:p>
          <a:p>
            <a:pPr marL="800100" marR="540385" indent="-342900" algn="just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fa-IR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B Zar" panose="00000400000000000000" pitchFamily="2" charset="-78"/>
                <a:ea typeface="Times New Roman" panose="02020603050405020304" pitchFamily="18" charset="0"/>
                <a:cs typeface="B Yagut" panose="00000400000000000000" pitchFamily="2" charset="-78"/>
              </a:rPr>
              <a:t>این جریان </a:t>
            </a:r>
            <a:r>
              <a:rPr lang="fa-IR" sz="2000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B Zar" panose="00000400000000000000" pitchFamily="2" charset="-78"/>
                <a:ea typeface="Times New Roman" panose="02020603050405020304" pitchFamily="18" charset="0"/>
                <a:cs typeface="B Yagut" panose="00000400000000000000" pitchFamily="2" charset="-78"/>
              </a:rPr>
              <a:t>در یک چرخه کاهشی با نصب تجهیزات، میانگین مصرف آب خانگی را در شهر کاهش داده و باعث قرارگرفتن گروه جدیدی از مصرف‌کنندگان در فهرست خارج از الگوی مصرف خواهد شد که این موضوع نیز سبب دائمی بودن جریان کسب و کار می‌گردد</a:t>
            </a:r>
            <a:r>
              <a:rPr lang="fa-IR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B Zar" panose="00000400000000000000" pitchFamily="2" charset="-78"/>
                <a:ea typeface="Times New Roman" panose="02020603050405020304" pitchFamily="18" charset="0"/>
                <a:cs typeface="B Yagut" panose="00000400000000000000" pitchFamily="2" charset="-78"/>
              </a:rPr>
              <a:t>.</a:t>
            </a:r>
          </a:p>
          <a:p>
            <a:pPr marL="800100" marR="540385" indent="-342900" algn="just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fa-IR" sz="2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B Zar" panose="00000400000000000000" pitchFamily="2" charset="-78"/>
                <a:ea typeface="Times New Roman" panose="02020603050405020304" pitchFamily="18" charset="0"/>
                <a:cs typeface="B Yagut" panose="00000400000000000000" pitchFamily="2" charset="-78"/>
              </a:rPr>
              <a:t> </a:t>
            </a:r>
            <a:r>
              <a:rPr lang="fa-IR" sz="2000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B Zar" panose="00000400000000000000" pitchFamily="2" charset="-78"/>
                <a:ea typeface="Times New Roman" panose="02020603050405020304" pitchFamily="18" charset="0"/>
                <a:cs typeface="B Yagut" panose="00000400000000000000" pitchFamily="2" charset="-78"/>
              </a:rPr>
              <a:t>حضور بازیگران متعدد دیگر از جمله دانشگاه‌ها و موسسات آموزشی، سرمایه‌گذاران و صندوق‌های سرمایه‌‌گذاری پذیرنده ریسک در این فضا باعث پویایی این اکوسیستم خواهند شد.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B Yagut" panose="00000400000000000000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73700" y="693738"/>
            <a:ext cx="21723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2400" b="1" dirty="0">
                <a:solidFill>
                  <a:schemeClr val="accent5">
                    <a:lumMod val="50000"/>
                  </a:schemeClr>
                </a:solidFill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B Yagut" panose="00000400000000000000" pitchFamily="2" charset="-78"/>
              </a:rPr>
              <a:t>نتایج مورد انتظار</a:t>
            </a:r>
            <a:endParaRPr lang="en-US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93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914" y="693738"/>
            <a:ext cx="2081784" cy="10759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14" y="1769682"/>
            <a:ext cx="9564915" cy="507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880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935" y="1397922"/>
            <a:ext cx="4007045" cy="20709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28572" y="3875314"/>
            <a:ext cx="53557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4800" dirty="0" smtClean="0">
                <a:solidFill>
                  <a:schemeClr val="accent1">
                    <a:lumMod val="75000"/>
                  </a:schemeClr>
                </a:solidFill>
                <a:cs typeface="B Yagut" panose="00000400000000000000" pitchFamily="2" charset="-78"/>
              </a:rPr>
              <a:t>با تشکر از توجه شما</a:t>
            </a:r>
            <a:endParaRPr lang="en-US" sz="4800" dirty="0">
              <a:solidFill>
                <a:schemeClr val="accent1">
                  <a:lumMod val="75000"/>
                </a:schemeClr>
              </a:solidFill>
              <a:cs typeface="B Yagut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9865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Overr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ivic">
    <a:dk1>
      <a:sysClr val="windowText" lastClr="000000"/>
    </a:dk1>
    <a:lt1>
      <a:sysClr val="window" lastClr="FFFFFF"/>
    </a:lt1>
    <a:dk2>
      <a:srgbClr val="646B86"/>
    </a:dk2>
    <a:lt2>
      <a:srgbClr val="C5D1D7"/>
    </a:lt2>
    <a:accent1>
      <a:srgbClr val="D16349"/>
    </a:accent1>
    <a:accent2>
      <a:srgbClr val="CCB400"/>
    </a:accent2>
    <a:accent3>
      <a:srgbClr val="8CADAE"/>
    </a:accent3>
    <a:accent4>
      <a:srgbClr val="8C7B70"/>
    </a:accent4>
    <a:accent5>
      <a:srgbClr val="8FB08C"/>
    </a:accent5>
    <a:accent6>
      <a:srgbClr val="D19049"/>
    </a:accent6>
    <a:hlink>
      <a:srgbClr val="00A3D6"/>
    </a:hlink>
    <a:folHlink>
      <a:srgbClr val="694F07"/>
    </a:folHlink>
  </a:clrScheme>
  <a:fontScheme name="Civic">
    <a:majorFont>
      <a:latin typeface="Georgia"/>
      <a:ea typeface=""/>
      <a:cs typeface=""/>
      <a:font script="Jpan" typeface="ＭＳ Ｐゴシック"/>
      <a:font script="Hang" typeface="돋움"/>
      <a:font script="Hans" typeface="方正舒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Georgia"/>
      <a:ea typeface=""/>
      <a:cs typeface=""/>
      <a:font script="Jpan" typeface="ＭＳ Ｐ明朝"/>
      <a:font script="Hang" typeface="바탕"/>
      <a:font script="Hans" typeface="方正舒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inorFont>
  </a:fontScheme>
  <a:fmtScheme name="Civic">
    <a:fillStyleLst>
      <a:solidFill>
        <a:schemeClr val="phClr"/>
      </a:solidFill>
      <a:solidFill>
        <a:schemeClr val="phClr">
          <a:tint val="45000"/>
        </a:schemeClr>
      </a:solidFill>
      <a:solidFill>
        <a:schemeClr val="phClr">
          <a:tint val="95000"/>
        </a:schemeClr>
      </a:solidFill>
    </a:fillStyleLst>
    <a:lnStyleLst>
      <a:ln w="9525" cap="flat" cmpd="sng" algn="ctr">
        <a:solidFill>
          <a:schemeClr val="phClr"/>
        </a:solidFill>
        <a:prstDash val="solid"/>
      </a:ln>
      <a:ln w="11429" cap="flat" cmpd="sng" algn="ctr">
        <a:solidFill>
          <a:schemeClr val="phClr"/>
        </a:solidFill>
        <a:prstDash val="sysDash"/>
      </a:ln>
      <a:ln w="200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50800" dist="254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threePt" dir="t">
            <a:rot lat="0" lon="0" rev="0"/>
          </a:lightRig>
        </a:scene3d>
        <a:sp3d contourW="9525" prstMaterial="matte">
          <a:bevelT w="0" h="0"/>
          <a:contourClr>
            <a:schemeClr val="phClr">
              <a:shade val="70000"/>
              <a:satMod val="105000"/>
            </a:schemeClr>
          </a:contourClr>
        </a:sp3d>
      </a:effectStyle>
      <a:effectStyle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soft" dir="b">
            <a:rot lat="0" lon="0" rev="0"/>
          </a:lightRig>
        </a:scene3d>
        <a:sp3d prstMaterial="dkEdge">
          <a:bevelT w="63500" h="63500" prst="cross"/>
          <a:contourClr>
            <a:schemeClr val="phClr"/>
          </a:contourClr>
        </a:sp3d>
      </a:effectStyle>
    </a:effectStyleLst>
    <a:bgFillStyleLst>
      <a:solidFill>
        <a:schemeClr val="phClr"/>
      </a:solidFill>
      <a:blipFill>
        <a:blip xmlns:r="http://schemas.openxmlformats.org/officeDocument/2006/relationships" r:embed="rId1">
          <a:duotone>
            <a:schemeClr val="phClr">
              <a:shade val="70000"/>
              <a:satMod val="115000"/>
            </a:schemeClr>
            <a:schemeClr val="phClr">
              <a:tint val="85000"/>
            </a:schemeClr>
          </a:duotone>
        </a:blip>
        <a:tile tx="0" ty="0" sx="85000" sy="85000" flip="none" algn="tl"/>
      </a:blipFill>
      <a:blipFill>
        <a:blip xmlns:r="http://schemas.openxmlformats.org/officeDocument/2006/relationships" r:embed="rId2">
          <a:duotone>
            <a:schemeClr val="phClr">
              <a:shade val="65000"/>
              <a:satMod val="115000"/>
            </a:schemeClr>
            <a:schemeClr val="phClr">
              <a:tint val="85000"/>
            </a:schemeClr>
          </a:duotone>
        </a:blip>
        <a:tile tx="0" ty="0" sx="65000" sy="65000" flip="none" algn="tl"/>
      </a:blip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504</Words>
  <Application>Microsoft Office PowerPoint</Application>
  <PresentationFormat>Widescreen</PresentationFormat>
  <Paragraphs>77</Paragraphs>
  <Slides>12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MS PGothic</vt:lpstr>
      <vt:lpstr>Arial</vt:lpstr>
      <vt:lpstr>B Nazanin</vt:lpstr>
      <vt:lpstr>B Yagut</vt:lpstr>
      <vt:lpstr>B Zar</vt:lpstr>
      <vt:lpstr>Calibri</vt:lpstr>
      <vt:lpstr>Calibri Light</vt:lpstr>
      <vt:lpstr>Gill Sans</vt:lpstr>
      <vt:lpstr>Times New Roman</vt:lpstr>
      <vt:lpstr>Wingdings</vt:lpstr>
      <vt:lpstr>Office Theme</vt:lpstr>
      <vt:lpstr>1_Office Theme</vt:lpstr>
      <vt:lpstr>Document</vt:lpstr>
      <vt:lpstr>PowerPoint Presentation</vt:lpstr>
      <vt:lpstr>مدیریت مصرف آب خانگی برپایه پلتفرم همرسانی ABDIT و توسعه فضای کسب و کار خودگردان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a2</dc:creator>
  <cp:lastModifiedBy>Admin</cp:lastModifiedBy>
  <cp:revision>20</cp:revision>
  <dcterms:created xsi:type="dcterms:W3CDTF">2023-08-13T08:16:49Z</dcterms:created>
  <dcterms:modified xsi:type="dcterms:W3CDTF">2023-08-26T17:15:50Z</dcterms:modified>
</cp:coreProperties>
</file>