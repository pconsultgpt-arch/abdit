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79601-DA6A-4D64-9ABA-4DC954E0C17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B1AAAB-7E51-4F8B-87F9-DB4439033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761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EE927-5A74-4168-AA73-B8CBE53E0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A8CC7-6745-46F1-8E35-6D2039D978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0469D-CCAF-4217-B1BB-B78899FA5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29AA-70F9-483E-A4EA-0D118345A525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986CF-B691-48F0-8713-AAD0FAF55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3C164-B28E-4F94-A8B8-9870E3B4E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85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EADCF-B954-4F78-9811-1F81CD048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91CA0-3AFF-40C0-ACAF-264B30C93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A9CAA-2F29-4A3C-8648-FAF105DF6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29AA-70F9-483E-A4EA-0D118345A525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EC2E2-4268-410A-9EE4-36BB5DF9D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51804-0516-49C1-85A8-FC2C324C9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25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C1F9A-58D9-49BE-9BB9-16F520A5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76B65-5738-4B49-9A01-86D9DD416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18E77-03E1-4532-B206-7438ED56E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29AA-70F9-483E-A4EA-0D118345A525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895D6-C758-4E14-AC8A-FD03CE756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C812-0FF0-4E44-A26D-B61544902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378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40C0E-FE9E-41A5-9CE1-8DEAAED93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59829-DBA6-4159-8A62-CEBD2FBBE6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28906-965C-49C7-8D7B-9C2A18481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4A753-1CCC-441B-9E2E-8A95024E8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29AA-70F9-483E-A4EA-0D118345A525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AE1EC-1876-4234-9174-B45E8DDEE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CA2E0F-2A8C-49D4-836C-99B1BE8B5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8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F2E16-E8E4-42C1-875F-99E186752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2C6F3-3EE5-45A7-BDF7-A7EC79B45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DED13-7C63-4E05-8753-5D1F9882D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40FAA5-AC15-41F0-A88E-742EFB6BB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0ACE4D-A7E2-40DD-881F-03A3BED1EA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CA8A93-9CA5-496A-B5D7-59DCF72D2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29AA-70F9-483E-A4EA-0D118345A525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76E39E-27FF-4840-B01F-62AE91B4B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7C00E7-79C4-4321-A046-C46FFD369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35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6286A-099E-4C6C-86B6-31D1B590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8EC540-1390-4817-B51D-CB9C97298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29AA-70F9-483E-A4EA-0D118345A525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32D7D9-8389-4922-A9A1-9DE6C1BB9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7A6295-F460-4FA3-B473-EA0F74772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39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896535-5093-4B01-A61C-46121C865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29AA-70F9-483E-A4EA-0D118345A525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C99CF-C8E1-42EE-AB5C-8DD518A35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36BDB-B3FB-4908-9249-B024E801F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003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DF970-ED71-4D06-99BE-1E7283CE1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DE328-CF59-49F7-A1CB-938C7EC15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146545-65B5-45B1-AF6B-59AFC1D0B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3A7FF-A1A6-4AA3-85C0-A0EFD9EB0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29AA-70F9-483E-A4EA-0D118345A525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7186F-4086-431E-8201-5FE80F15A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7284C-5023-4B64-9E52-45ECDB387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684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44997-828B-4555-B7B2-E322F5C5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0B95DA-A87A-4E52-AFA1-D40A04CA6B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3E9EF-D380-449A-B935-512C1A1BC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7B11B-982D-444B-B983-60E971ADE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29AA-70F9-483E-A4EA-0D118345A525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56C9A-418A-4BA5-9400-2B5E850BE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361D7-AB56-44EF-8024-2DCA7711A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873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0456E-ABA5-43E5-8465-E08725F2A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D914DE-14EC-450C-97D3-51B4B651E2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CDD2C-E873-4040-8BE0-D0EE9AF97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29AA-70F9-483E-A4EA-0D118345A525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18B52-A802-46BB-88CE-966AB2416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889EB-0B20-4EB7-9D1D-3C89B564A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15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BDA28B-A445-4EBC-B632-0C0143F3C6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D5EFA0-2678-492D-8AAE-96BC9826E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4D7C2-1F48-4E06-BC7B-53887BC11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29AA-70F9-483E-A4EA-0D118345A525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9E278-EDEE-4C51-A866-3E063618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031C4-87E9-48BE-BC03-C3AC94B42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41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F0A562-A8D4-4A64-B23C-AD20FB1DA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82849-617F-4D51-9B48-8A6ECE23E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F6220-9C6F-4CCB-8955-52959EA958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A29AA-70F9-483E-A4EA-0D118345A525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435D1-CF57-4D3C-8B73-AC7888377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D7CC4-6AEB-4D9D-81D3-F55419A938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17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1AE08E9-454B-4E26-BEAA-B65E374368E3}"/>
              </a:ext>
            </a:extLst>
          </p:cNvPr>
          <p:cNvCxnSpPr/>
          <p:nvPr/>
        </p:nvCxnSpPr>
        <p:spPr>
          <a:xfrm>
            <a:off x="6268720" y="3996690"/>
            <a:ext cx="9525" cy="318135"/>
          </a:xfrm>
          <a:prstGeom prst="straightConnector1">
            <a:avLst/>
          </a:prstGeom>
          <a:noFill/>
          <a:ln w="25400" cap="flat" cmpd="sng" algn="ctr">
            <a:solidFill>
              <a:srgbClr val="00B05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6957515-0981-4CF3-A4B3-F810F85B7070}"/>
              </a:ext>
            </a:extLst>
          </p:cNvPr>
          <p:cNvCxnSpPr/>
          <p:nvPr/>
        </p:nvCxnSpPr>
        <p:spPr>
          <a:xfrm>
            <a:off x="5591175" y="1657985"/>
            <a:ext cx="0" cy="490855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BAFB34A-0057-4DE4-AE42-3388D92514F3}"/>
              </a:ext>
            </a:extLst>
          </p:cNvPr>
          <p:cNvCxnSpPr/>
          <p:nvPr/>
        </p:nvCxnSpPr>
        <p:spPr>
          <a:xfrm>
            <a:off x="2802255" y="2249805"/>
            <a:ext cx="9525" cy="318135"/>
          </a:xfrm>
          <a:prstGeom prst="straightConnector1">
            <a:avLst/>
          </a:prstGeom>
          <a:noFill/>
          <a:ln w="25400" cap="flat" cmpd="sng" algn="ctr">
            <a:solidFill>
              <a:srgbClr val="00B05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7F7AD32-6720-4C03-9BD6-540662FEBCE5}"/>
              </a:ext>
            </a:extLst>
          </p:cNvPr>
          <p:cNvSpPr/>
          <p:nvPr/>
        </p:nvSpPr>
        <p:spPr>
          <a:xfrm>
            <a:off x="1767840" y="2566670"/>
            <a:ext cx="2202815" cy="6477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28F0C8-A5FB-4540-AF08-B60A0F5E0ABD}"/>
              </a:ext>
            </a:extLst>
          </p:cNvPr>
          <p:cNvSpPr/>
          <p:nvPr/>
        </p:nvSpPr>
        <p:spPr>
          <a:xfrm rot="16200000">
            <a:off x="4417695" y="2741930"/>
            <a:ext cx="1700530" cy="647700"/>
          </a:xfrm>
          <a:prstGeom prst="rect">
            <a:avLst/>
          </a:prstGeom>
          <a:solidFill>
            <a:srgbClr val="A0F8D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endParaRPr lang="en-US"/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5BF28B3B-2CA7-4607-83F7-EBBEAC003158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4657090" y="2801860"/>
            <a:ext cx="126682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AbDit</a:t>
            </a:r>
            <a:endParaRPr kumimoji="0" lang="fa-I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483426-FFF5-4EE6-A292-CCF373D4B40D}"/>
              </a:ext>
            </a:extLst>
          </p:cNvPr>
          <p:cNvSpPr/>
          <p:nvPr/>
        </p:nvSpPr>
        <p:spPr>
          <a:xfrm>
            <a:off x="4464685" y="1044575"/>
            <a:ext cx="2980690" cy="613410"/>
          </a:xfrm>
          <a:prstGeom prst="rect">
            <a:avLst/>
          </a:prstGeom>
          <a:solidFill>
            <a:schemeClr val="bg1"/>
          </a:solidFill>
          <a:ln w="3175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11" name="Text Box 66">
            <a:extLst>
              <a:ext uri="{FF2B5EF4-FFF2-40B4-BE49-F238E27FC236}">
                <a16:creationId xmlns:a16="http://schemas.microsoft.com/office/drawing/2014/main" id="{2C5FA3CA-8112-49C6-B0DB-2DF37C20C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1681" y="1132408"/>
            <a:ext cx="2888178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شرکت آب و فاضلاب 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36">
            <a:extLst>
              <a:ext uri="{FF2B5EF4-FFF2-40B4-BE49-F238E27FC236}">
                <a16:creationId xmlns:a16="http://schemas.microsoft.com/office/drawing/2014/main" id="{96C81006-DF3B-4F21-843A-FB16C535B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654" y="2653842"/>
            <a:ext cx="14763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مصرف کننده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2693EB-A2C9-4C5E-AB94-B221E017A627}"/>
              </a:ext>
            </a:extLst>
          </p:cNvPr>
          <p:cNvSpPr/>
          <p:nvPr/>
        </p:nvSpPr>
        <p:spPr>
          <a:xfrm>
            <a:off x="4171950" y="4324350"/>
            <a:ext cx="3571875" cy="1595755"/>
          </a:xfrm>
          <a:prstGeom prst="rect">
            <a:avLst/>
          </a:pr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E2FEFA-877E-467C-9391-95444ECF8FDF}"/>
              </a:ext>
            </a:extLst>
          </p:cNvPr>
          <p:cNvSpPr/>
          <p:nvPr/>
        </p:nvSpPr>
        <p:spPr>
          <a:xfrm>
            <a:off x="4304030" y="4474845"/>
            <a:ext cx="1560830" cy="428625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277233-34CB-4A91-941B-BA71AE4F7D0A}"/>
              </a:ext>
            </a:extLst>
          </p:cNvPr>
          <p:cNvSpPr/>
          <p:nvPr/>
        </p:nvSpPr>
        <p:spPr>
          <a:xfrm>
            <a:off x="5969000" y="4467860"/>
            <a:ext cx="1568450" cy="4286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96C848-A3E3-48AC-AE18-BD7E85A4D120}"/>
              </a:ext>
            </a:extLst>
          </p:cNvPr>
          <p:cNvSpPr/>
          <p:nvPr/>
        </p:nvSpPr>
        <p:spPr>
          <a:xfrm>
            <a:off x="6648450" y="5019040"/>
            <a:ext cx="2202815" cy="314325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7889B1-835E-4840-A8CE-947162B65645}"/>
              </a:ext>
            </a:extLst>
          </p:cNvPr>
          <p:cNvSpPr/>
          <p:nvPr/>
        </p:nvSpPr>
        <p:spPr>
          <a:xfrm>
            <a:off x="6649720" y="5414645"/>
            <a:ext cx="2202815" cy="272415"/>
          </a:xfrm>
          <a:prstGeom prst="rect">
            <a:avLst/>
          </a:prstGeom>
          <a:solidFill>
            <a:schemeClr val="bg1"/>
          </a:solidFill>
          <a:ln w="317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18" name="Text Box 9">
            <a:extLst>
              <a:ext uri="{FF2B5EF4-FFF2-40B4-BE49-F238E27FC236}">
                <a16:creationId xmlns:a16="http://schemas.microsoft.com/office/drawing/2014/main" id="{92F14340-997E-4033-ACDF-2CCA54672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8200" y="5001683"/>
            <a:ext cx="1327150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ممیز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Box 10">
            <a:extLst>
              <a:ext uri="{FF2B5EF4-FFF2-40B4-BE49-F238E27FC236}">
                <a16:creationId xmlns:a16="http://schemas.microsoft.com/office/drawing/2014/main" id="{6C147A13-3B63-47F0-89E7-B56B0DE2F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5175" y="4491011"/>
            <a:ext cx="14668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تامین کننده تجهیزات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53033372-85DC-4BD9-A02C-41B2920B5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2732" y="4538501"/>
            <a:ext cx="146685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تامین کننده سرمایه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Box 12">
            <a:extLst>
              <a:ext uri="{FF2B5EF4-FFF2-40B4-BE49-F238E27FC236}">
                <a16:creationId xmlns:a16="http://schemas.microsoft.com/office/drawing/2014/main" id="{5EB4F7ED-25BA-4821-8762-053DD8F5A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6139" y="5386242"/>
            <a:ext cx="966788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مجری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Box 13">
            <a:extLst>
              <a:ext uri="{FF2B5EF4-FFF2-40B4-BE49-F238E27FC236}">
                <a16:creationId xmlns:a16="http://schemas.microsoft.com/office/drawing/2014/main" id="{001B6214-DC58-4771-A016-ADCD47F30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0" y="5200650"/>
            <a:ext cx="963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WSCO</a:t>
            </a:r>
            <a:endParaRPr kumimoji="0" lang="fa-I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061222-6422-4589-8F90-CC63DFF8FC06}"/>
              </a:ext>
            </a:extLst>
          </p:cNvPr>
          <p:cNvSpPr/>
          <p:nvPr/>
        </p:nvSpPr>
        <p:spPr>
          <a:xfrm>
            <a:off x="5596255" y="2230120"/>
            <a:ext cx="2202815" cy="284480"/>
          </a:xfrm>
          <a:prstGeom prst="rect">
            <a:avLst/>
          </a:prstGeom>
          <a:solidFill>
            <a:srgbClr val="A0F8DB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1C9112-A8A7-4DAB-877A-1099C31DBDB2}"/>
              </a:ext>
            </a:extLst>
          </p:cNvPr>
          <p:cNvSpPr/>
          <p:nvPr/>
        </p:nvSpPr>
        <p:spPr>
          <a:xfrm>
            <a:off x="5594985" y="2567305"/>
            <a:ext cx="2202815" cy="284480"/>
          </a:xfrm>
          <a:prstGeom prst="rect">
            <a:avLst/>
          </a:prstGeom>
          <a:solidFill>
            <a:srgbClr val="A0F8DB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A51000-C0CF-4662-92A3-09E728412634}"/>
              </a:ext>
            </a:extLst>
          </p:cNvPr>
          <p:cNvSpPr/>
          <p:nvPr/>
        </p:nvSpPr>
        <p:spPr>
          <a:xfrm>
            <a:off x="5598160" y="2931795"/>
            <a:ext cx="2202815" cy="284480"/>
          </a:xfrm>
          <a:prstGeom prst="rect">
            <a:avLst/>
          </a:prstGeom>
          <a:solidFill>
            <a:srgbClr val="A0F8DB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28FF1B-99D5-4D2D-BA27-F3C8DA4E729F}"/>
              </a:ext>
            </a:extLst>
          </p:cNvPr>
          <p:cNvSpPr/>
          <p:nvPr/>
        </p:nvSpPr>
        <p:spPr>
          <a:xfrm>
            <a:off x="5596255" y="3282950"/>
            <a:ext cx="2202815" cy="284480"/>
          </a:xfrm>
          <a:prstGeom prst="rect">
            <a:avLst/>
          </a:prstGeom>
          <a:solidFill>
            <a:srgbClr val="A0F8DB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5957DF-4D5A-447D-8A91-CC5360CEE832}"/>
              </a:ext>
            </a:extLst>
          </p:cNvPr>
          <p:cNvSpPr/>
          <p:nvPr/>
        </p:nvSpPr>
        <p:spPr>
          <a:xfrm>
            <a:off x="5601335" y="3636010"/>
            <a:ext cx="2202815" cy="284480"/>
          </a:xfrm>
          <a:prstGeom prst="rect">
            <a:avLst/>
          </a:prstGeom>
          <a:solidFill>
            <a:srgbClr val="A0F8DB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28" name="Text Box 20">
            <a:extLst>
              <a:ext uri="{FF2B5EF4-FFF2-40B4-BE49-F238E27FC236}">
                <a16:creationId xmlns:a16="http://schemas.microsoft.com/office/drawing/2014/main" id="{64C63688-6FC8-449C-ADB8-2E9A94915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0794" y="2226659"/>
            <a:ext cx="1466850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مقایسه با استانداردها 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Box 21">
            <a:extLst>
              <a:ext uri="{FF2B5EF4-FFF2-40B4-BE49-F238E27FC236}">
                <a16:creationId xmlns:a16="http://schemas.microsoft.com/office/drawing/2014/main" id="{C4028777-60FD-41AB-AA52-EEDC99CD5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4174" y="2536031"/>
            <a:ext cx="2120900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مقایسه با سایر شهرهای مشابه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Box 22">
            <a:extLst>
              <a:ext uri="{FF2B5EF4-FFF2-40B4-BE49-F238E27FC236}">
                <a16:creationId xmlns:a16="http://schemas.microsoft.com/office/drawing/2014/main" id="{28DAD71F-9A9B-4060-B51B-0F16AE3B6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5450" y="2909503"/>
            <a:ext cx="1898650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بررسی منابع آب موجود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Box 23">
            <a:extLst>
              <a:ext uri="{FF2B5EF4-FFF2-40B4-BE49-F238E27FC236}">
                <a16:creationId xmlns:a16="http://schemas.microsoft.com/office/drawing/2014/main" id="{BCAF4DE1-E603-4F72-A2F6-EB26EBECA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6160" y="3272155"/>
            <a:ext cx="12192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طبقه‌بندی و اعلام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Box 24">
            <a:extLst>
              <a:ext uri="{FF2B5EF4-FFF2-40B4-BE49-F238E27FC236}">
                <a16:creationId xmlns:a16="http://schemas.microsoft.com/office/drawing/2014/main" id="{82EC251D-1E0D-4066-A900-FCF02A5E9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7030" y="3636168"/>
            <a:ext cx="1009650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مدیریت دانش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02FC4C1-A48B-4616-A2BA-F936771BF3E2}"/>
              </a:ext>
            </a:extLst>
          </p:cNvPr>
          <p:cNvSpPr/>
          <p:nvPr/>
        </p:nvSpPr>
        <p:spPr>
          <a:xfrm>
            <a:off x="4830445" y="2139315"/>
            <a:ext cx="3155315" cy="1863090"/>
          </a:xfrm>
          <a:prstGeom prst="rect">
            <a:avLst/>
          </a:prstGeom>
          <a:noFill/>
          <a:ln w="41275" cap="flat" cmpd="sng" algn="ctr">
            <a:solidFill>
              <a:srgbClr val="37895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cxnSp>
        <p:nvCxnSpPr>
          <p:cNvPr id="34" name="Elbow Connector 53">
            <a:extLst>
              <a:ext uri="{FF2B5EF4-FFF2-40B4-BE49-F238E27FC236}">
                <a16:creationId xmlns:a16="http://schemas.microsoft.com/office/drawing/2014/main" id="{BD8D38B3-02AB-49D0-843B-23A35474D526}"/>
              </a:ext>
            </a:extLst>
          </p:cNvPr>
          <p:cNvCxnSpPr/>
          <p:nvPr/>
        </p:nvCxnSpPr>
        <p:spPr>
          <a:xfrm rot="10800000" flipV="1">
            <a:off x="1756410" y="1163320"/>
            <a:ext cx="2686685" cy="1508125"/>
          </a:xfrm>
          <a:prstGeom prst="bentConnector3">
            <a:avLst>
              <a:gd name="adj1" fmla="val 149752"/>
            </a:avLst>
          </a:prstGeom>
          <a:ln w="317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4711DBB9-F25D-4A68-958D-DFAE624AE1E0}"/>
              </a:ext>
            </a:extLst>
          </p:cNvPr>
          <p:cNvSpPr/>
          <p:nvPr/>
        </p:nvSpPr>
        <p:spPr>
          <a:xfrm>
            <a:off x="688340" y="2776220"/>
            <a:ext cx="301625" cy="2667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B4F2CD8-CFDE-4579-8CC7-1642BA84E9C0}"/>
              </a:ext>
            </a:extLst>
          </p:cNvPr>
          <p:cNvCxnSpPr/>
          <p:nvPr/>
        </p:nvCxnSpPr>
        <p:spPr>
          <a:xfrm flipV="1">
            <a:off x="819150" y="2854960"/>
            <a:ext cx="146050" cy="77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7279EF2-4406-4A21-9BDB-5745480F42AF}"/>
              </a:ext>
            </a:extLst>
          </p:cNvPr>
          <p:cNvSpPr/>
          <p:nvPr/>
        </p:nvSpPr>
        <p:spPr>
          <a:xfrm>
            <a:off x="426085" y="3688080"/>
            <a:ext cx="1568450" cy="42862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EDD661-ABBB-4E5F-A947-D1437415C17E}"/>
              </a:ext>
            </a:extLst>
          </p:cNvPr>
          <p:cNvSpPr/>
          <p:nvPr/>
        </p:nvSpPr>
        <p:spPr>
          <a:xfrm>
            <a:off x="326390" y="4528820"/>
            <a:ext cx="3155315" cy="1336040"/>
          </a:xfrm>
          <a:prstGeom prst="rect">
            <a:avLst/>
          </a:prstGeom>
          <a:noFill/>
          <a:ln w="41275" cap="flat" cmpd="sng" algn="ctr">
            <a:solidFill>
              <a:srgbClr val="7030A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62EBDB-3B80-43E2-B137-E9651482909D}"/>
              </a:ext>
            </a:extLst>
          </p:cNvPr>
          <p:cNvSpPr/>
          <p:nvPr/>
        </p:nvSpPr>
        <p:spPr>
          <a:xfrm rot="16200000">
            <a:off x="169227" y="4851083"/>
            <a:ext cx="1155065" cy="6477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40" name="Text Box 20">
            <a:extLst>
              <a:ext uri="{FF2B5EF4-FFF2-40B4-BE49-F238E27FC236}">
                <a16:creationId xmlns:a16="http://schemas.microsoft.com/office/drawing/2014/main" id="{8CC1833B-3F46-485E-AC98-B0626DE780AD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147843" y="4955065"/>
            <a:ext cx="1206500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موسسه آموزشی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1DB98AB-1D34-4AEE-B5A1-478C5BE20A89}"/>
              </a:ext>
            </a:extLst>
          </p:cNvPr>
          <p:cNvSpPr/>
          <p:nvPr/>
        </p:nvSpPr>
        <p:spPr>
          <a:xfrm>
            <a:off x="1171575" y="4611370"/>
            <a:ext cx="2202815" cy="284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CAF201-77AB-48F5-A84A-E86AB339B948}"/>
              </a:ext>
            </a:extLst>
          </p:cNvPr>
          <p:cNvSpPr/>
          <p:nvPr/>
        </p:nvSpPr>
        <p:spPr>
          <a:xfrm>
            <a:off x="1171575" y="5017135"/>
            <a:ext cx="2202815" cy="284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2FF3450-CBE3-4685-94D2-F9C06FC45550}"/>
              </a:ext>
            </a:extLst>
          </p:cNvPr>
          <p:cNvSpPr/>
          <p:nvPr/>
        </p:nvSpPr>
        <p:spPr>
          <a:xfrm>
            <a:off x="1171575" y="5405120"/>
            <a:ext cx="2202815" cy="284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44" name="Text Box 44">
            <a:extLst>
              <a:ext uri="{FF2B5EF4-FFF2-40B4-BE49-F238E27FC236}">
                <a16:creationId xmlns:a16="http://schemas.microsoft.com/office/drawing/2014/main" id="{5492E917-D9BB-408C-B2BE-E1777FE94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297" y="4617720"/>
            <a:ext cx="2381250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دوره کسب و کار مدیریت مصرف آب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WSCO</a:t>
            </a:r>
            <a:r>
              <a:rPr kumimoji="0" lang="fa-IR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Box 45">
            <a:extLst>
              <a:ext uri="{FF2B5EF4-FFF2-40B4-BE49-F238E27FC236}">
                <a16:creationId xmlns:a16="http://schemas.microsoft.com/office/drawing/2014/main" id="{D00EE3DA-2888-4C96-A56B-19628A598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" y="4957127"/>
            <a:ext cx="2060575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دوره تربیت ممیز آب 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Box 46">
            <a:extLst>
              <a:ext uri="{FF2B5EF4-FFF2-40B4-BE49-F238E27FC236}">
                <a16:creationId xmlns:a16="http://schemas.microsoft.com/office/drawing/2014/main" id="{A4369657-F678-41D1-AD83-7B5E35E5C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679" y="5383591"/>
            <a:ext cx="2139950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دوره مدیریت جامع آب شهری 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Box 47">
            <a:extLst>
              <a:ext uri="{FF2B5EF4-FFF2-40B4-BE49-F238E27FC236}">
                <a16:creationId xmlns:a16="http://schemas.microsoft.com/office/drawing/2014/main" id="{7B244FFA-7EE8-4B5F-A97C-D14980D60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" y="3761611"/>
            <a:ext cx="1612901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پذیرنده ریسک سرمایه 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07AAD74-1EE8-4527-9041-F50E1EBC56E3}"/>
              </a:ext>
            </a:extLst>
          </p:cNvPr>
          <p:cNvCxnSpPr/>
          <p:nvPr/>
        </p:nvCxnSpPr>
        <p:spPr>
          <a:xfrm>
            <a:off x="3545840" y="5218430"/>
            <a:ext cx="610870" cy="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2C7AA56B-D313-4FF7-92B2-3C4CCDBA250D}"/>
              </a:ext>
            </a:extLst>
          </p:cNvPr>
          <p:cNvSpPr/>
          <p:nvPr/>
        </p:nvSpPr>
        <p:spPr>
          <a:xfrm>
            <a:off x="7896860" y="4239260"/>
            <a:ext cx="2362835" cy="378460"/>
          </a:xfrm>
          <a:prstGeom prst="rect">
            <a:avLst/>
          </a:prstGeom>
          <a:solidFill>
            <a:schemeClr val="bg1"/>
          </a:solidFill>
          <a:ln w="34925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50" name="Text Box 51">
            <a:extLst>
              <a:ext uri="{FF2B5EF4-FFF2-40B4-BE49-F238E27FC236}">
                <a16:creationId xmlns:a16="http://schemas.microsoft.com/office/drawing/2014/main" id="{2DDB462D-6BF9-499E-8AD5-EB03E514A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4038" y="4256099"/>
            <a:ext cx="2424113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طرح کمینه‌سازی مصرف آب و هزینه  </a:t>
            </a:r>
            <a:endParaRPr kumimoji="0" lang="fa-I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4C22894-FC32-42AB-9306-20C1C5C604B3}"/>
              </a:ext>
            </a:extLst>
          </p:cNvPr>
          <p:cNvCxnSpPr/>
          <p:nvPr/>
        </p:nvCxnSpPr>
        <p:spPr>
          <a:xfrm>
            <a:off x="5288915" y="4007485"/>
            <a:ext cx="9525" cy="318135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32">
            <a:extLst>
              <a:ext uri="{FF2B5EF4-FFF2-40B4-BE49-F238E27FC236}">
                <a16:creationId xmlns:a16="http://schemas.microsoft.com/office/drawing/2014/main" id="{513E6DEC-D10D-40FF-835E-CEF62A2851BF}"/>
              </a:ext>
            </a:extLst>
          </p:cNvPr>
          <p:cNvCxnSpPr/>
          <p:nvPr/>
        </p:nvCxnSpPr>
        <p:spPr>
          <a:xfrm>
            <a:off x="1175385" y="2671445"/>
            <a:ext cx="3596005" cy="901065"/>
          </a:xfrm>
          <a:prstGeom prst="bentConnector3">
            <a:avLst>
              <a:gd name="adj1" fmla="val 121"/>
            </a:avLst>
          </a:prstGeom>
          <a:ln w="254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CC3ED7B-7033-46DC-AAC6-5CE4B27E509D}"/>
              </a:ext>
            </a:extLst>
          </p:cNvPr>
          <p:cNvCxnSpPr/>
          <p:nvPr/>
        </p:nvCxnSpPr>
        <p:spPr>
          <a:xfrm flipH="1" flipV="1">
            <a:off x="8553450" y="4627880"/>
            <a:ext cx="9525" cy="38227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37">
            <a:extLst>
              <a:ext uri="{FF2B5EF4-FFF2-40B4-BE49-F238E27FC236}">
                <a16:creationId xmlns:a16="http://schemas.microsoft.com/office/drawing/2014/main" id="{1D1FFEF3-8CD8-44AC-BB88-7C92AFF45E85}"/>
              </a:ext>
            </a:extLst>
          </p:cNvPr>
          <p:cNvCxnSpPr/>
          <p:nvPr/>
        </p:nvCxnSpPr>
        <p:spPr>
          <a:xfrm flipH="1" flipV="1">
            <a:off x="7980045" y="3027680"/>
            <a:ext cx="569595" cy="1210945"/>
          </a:xfrm>
          <a:prstGeom prst="bentConnector3">
            <a:avLst>
              <a:gd name="adj1" fmla="val 225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EFE779F-2FD9-416B-8841-5C6C5B462AA3}"/>
              </a:ext>
            </a:extLst>
          </p:cNvPr>
          <p:cNvCxnSpPr/>
          <p:nvPr/>
        </p:nvCxnSpPr>
        <p:spPr>
          <a:xfrm flipH="1">
            <a:off x="3974465" y="3011805"/>
            <a:ext cx="826135" cy="444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6">
            <a:extLst>
              <a:ext uri="{FF2B5EF4-FFF2-40B4-BE49-F238E27FC236}">
                <a16:creationId xmlns:a16="http://schemas.microsoft.com/office/drawing/2014/main" id="{09746F51-9C58-47AD-8456-703154F2280B}"/>
              </a:ext>
            </a:extLst>
          </p:cNvPr>
          <p:cNvCxnSpPr/>
          <p:nvPr/>
        </p:nvCxnSpPr>
        <p:spPr>
          <a:xfrm>
            <a:off x="2801620" y="3221355"/>
            <a:ext cx="2035175" cy="552450"/>
          </a:xfrm>
          <a:prstGeom prst="bentConnector3">
            <a:avLst>
              <a:gd name="adj1" fmla="val 1383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7">
            <a:extLst>
              <a:ext uri="{FF2B5EF4-FFF2-40B4-BE49-F238E27FC236}">
                <a16:creationId xmlns:a16="http://schemas.microsoft.com/office/drawing/2014/main" id="{5B5DBB71-FEFB-4EFE-A394-B2908C23E038}"/>
              </a:ext>
            </a:extLst>
          </p:cNvPr>
          <p:cNvCxnSpPr/>
          <p:nvPr/>
        </p:nvCxnSpPr>
        <p:spPr>
          <a:xfrm>
            <a:off x="1170940" y="4114800"/>
            <a:ext cx="3000375" cy="285750"/>
          </a:xfrm>
          <a:prstGeom prst="bentConnector3">
            <a:avLst>
              <a:gd name="adj1" fmla="val -159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60">
            <a:extLst>
              <a:ext uri="{FF2B5EF4-FFF2-40B4-BE49-F238E27FC236}">
                <a16:creationId xmlns:a16="http://schemas.microsoft.com/office/drawing/2014/main" id="{6BF3FACC-D30A-4074-B498-E5E5291FC2DC}"/>
              </a:ext>
            </a:extLst>
          </p:cNvPr>
          <p:cNvCxnSpPr/>
          <p:nvPr/>
        </p:nvCxnSpPr>
        <p:spPr>
          <a:xfrm flipV="1">
            <a:off x="818515" y="1314450"/>
            <a:ext cx="3634105" cy="1457325"/>
          </a:xfrm>
          <a:prstGeom prst="bentConnector3">
            <a:avLst>
              <a:gd name="adj1" fmla="val 201"/>
            </a:avLst>
          </a:prstGeom>
          <a:ln w="25400">
            <a:solidFill>
              <a:srgbClr val="FFC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29">
            <a:extLst>
              <a:ext uri="{FF2B5EF4-FFF2-40B4-BE49-F238E27FC236}">
                <a16:creationId xmlns:a16="http://schemas.microsoft.com/office/drawing/2014/main" id="{B5631B63-D709-492D-947C-818004DC1440}"/>
              </a:ext>
            </a:extLst>
          </p:cNvPr>
          <p:cNvCxnSpPr/>
          <p:nvPr/>
        </p:nvCxnSpPr>
        <p:spPr>
          <a:xfrm flipH="1" flipV="1">
            <a:off x="7991475" y="2766695"/>
            <a:ext cx="866140" cy="2778760"/>
          </a:xfrm>
          <a:prstGeom prst="bentConnector3">
            <a:avLst>
              <a:gd name="adj1" fmla="val -181511"/>
            </a:avLst>
          </a:prstGeom>
          <a:noFill/>
          <a:ln w="25400" cap="flat" cmpd="sng" algn="ctr">
            <a:solidFill>
              <a:srgbClr val="00B05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4AF7271F-0D3E-4949-B150-F0250125AACF}"/>
              </a:ext>
            </a:extLst>
          </p:cNvPr>
          <p:cNvSpPr/>
          <p:nvPr/>
        </p:nvSpPr>
        <p:spPr>
          <a:xfrm>
            <a:off x="9001125" y="3348355"/>
            <a:ext cx="1597025" cy="292735"/>
          </a:xfrm>
          <a:prstGeom prst="rect">
            <a:avLst/>
          </a:prstGeom>
          <a:solidFill>
            <a:schemeClr val="bg1"/>
          </a:solidFill>
          <a:ln w="3492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62" name="Text Box 34">
            <a:extLst>
              <a:ext uri="{FF2B5EF4-FFF2-40B4-BE49-F238E27FC236}">
                <a16:creationId xmlns:a16="http://schemas.microsoft.com/office/drawing/2014/main" id="{D5BA66AC-8075-48C5-9C98-BB9F97152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3337" y="3336358"/>
            <a:ext cx="1603375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نصب تجهیزات کاهنده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7FA20E6-BFC9-478F-A67D-44E0BDC81B09}"/>
              </a:ext>
            </a:extLst>
          </p:cNvPr>
          <p:cNvCxnSpPr/>
          <p:nvPr/>
        </p:nvCxnSpPr>
        <p:spPr>
          <a:xfrm flipH="1">
            <a:off x="3936365" y="2214880"/>
            <a:ext cx="826135" cy="4445"/>
          </a:xfrm>
          <a:prstGeom prst="straightConnector1">
            <a:avLst/>
          </a:prstGeom>
          <a:noFill/>
          <a:ln w="25400" cap="flat" cmpd="sng" algn="ctr">
            <a:solidFill>
              <a:srgbClr val="00B05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146DA4E6-82F7-45F5-BBA1-EAD41A4901BD}"/>
              </a:ext>
            </a:extLst>
          </p:cNvPr>
          <p:cNvSpPr/>
          <p:nvPr/>
        </p:nvSpPr>
        <p:spPr>
          <a:xfrm>
            <a:off x="1751330" y="2077720"/>
            <a:ext cx="2190750" cy="296545"/>
          </a:xfrm>
          <a:prstGeom prst="rect">
            <a:avLst/>
          </a:prstGeom>
          <a:solidFill>
            <a:sysClr val="window" lastClr="FFFFFF"/>
          </a:solidFill>
          <a:ln w="3492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65" name="Text Box 55">
            <a:extLst>
              <a:ext uri="{FF2B5EF4-FFF2-40B4-BE49-F238E27FC236}">
                <a16:creationId xmlns:a16="http://schemas.microsoft.com/office/drawing/2014/main" id="{3F4B8CB5-ECB7-4EC6-9A4D-D4E8F3859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0864" y="2068829"/>
            <a:ext cx="1931987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اعلام هزینه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71488E2-CAB8-4EEB-8336-00EB678C2DE3}"/>
              </a:ext>
            </a:extLst>
          </p:cNvPr>
          <p:cNvSpPr/>
          <p:nvPr/>
        </p:nvSpPr>
        <p:spPr>
          <a:xfrm>
            <a:off x="519430" y="1495425"/>
            <a:ext cx="1175385" cy="307975"/>
          </a:xfrm>
          <a:prstGeom prst="rect">
            <a:avLst/>
          </a:prstGeom>
          <a:solidFill>
            <a:sysClr val="window" lastClr="FFFFFF"/>
          </a:solidFill>
          <a:ln w="3492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67" name="Text Box 61">
            <a:extLst>
              <a:ext uri="{FF2B5EF4-FFF2-40B4-BE49-F238E27FC236}">
                <a16:creationId xmlns:a16="http://schemas.microsoft.com/office/drawing/2014/main" id="{81B5EA66-6151-4978-ABA4-E940C98F4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58" y="1497533"/>
            <a:ext cx="962025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قرائت کنتور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C668F0E-0D88-4C9E-936F-B9D3A513A82E}"/>
              </a:ext>
            </a:extLst>
          </p:cNvPr>
          <p:cNvSpPr/>
          <p:nvPr/>
        </p:nvSpPr>
        <p:spPr>
          <a:xfrm>
            <a:off x="1529080" y="939165"/>
            <a:ext cx="1175385" cy="307975"/>
          </a:xfrm>
          <a:prstGeom prst="rect">
            <a:avLst/>
          </a:prstGeom>
          <a:solidFill>
            <a:sysClr val="window" lastClr="FFFFFF"/>
          </a:solidFill>
          <a:ln w="34925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69" name="Text Box 62">
            <a:extLst>
              <a:ext uri="{FF2B5EF4-FFF2-40B4-BE49-F238E27FC236}">
                <a16:creationId xmlns:a16="http://schemas.microsoft.com/office/drawing/2014/main" id="{D460CBF2-37C4-426B-BBC7-E0D2B6B3B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2872" y="930629"/>
            <a:ext cx="1473814" cy="243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صدور قبض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0" name="Elbow Connector 196">
            <a:extLst>
              <a:ext uri="{FF2B5EF4-FFF2-40B4-BE49-F238E27FC236}">
                <a16:creationId xmlns:a16="http://schemas.microsoft.com/office/drawing/2014/main" id="{F6F35E04-878A-4183-A1EE-5D5ED3BBD609}"/>
              </a:ext>
            </a:extLst>
          </p:cNvPr>
          <p:cNvCxnSpPr/>
          <p:nvPr/>
        </p:nvCxnSpPr>
        <p:spPr>
          <a:xfrm flipH="1" flipV="1">
            <a:off x="3709670" y="3211830"/>
            <a:ext cx="474980" cy="1305560"/>
          </a:xfrm>
          <a:prstGeom prst="bentConnector3">
            <a:avLst>
              <a:gd name="adj1" fmla="val 101258"/>
            </a:avLst>
          </a:prstGeom>
          <a:ln w="254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287A5C2E-6B65-40C4-9757-4FFC47EF6235}"/>
              </a:ext>
            </a:extLst>
          </p:cNvPr>
          <p:cNvSpPr/>
          <p:nvPr/>
        </p:nvSpPr>
        <p:spPr>
          <a:xfrm>
            <a:off x="2781935" y="3907155"/>
            <a:ext cx="1175385" cy="307975"/>
          </a:xfrm>
          <a:prstGeom prst="rect">
            <a:avLst/>
          </a:prstGeom>
          <a:solidFill>
            <a:sysClr val="window" lastClr="FFFFFF"/>
          </a:solidFill>
          <a:ln w="349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72" name="Text Box 198">
            <a:extLst>
              <a:ext uri="{FF2B5EF4-FFF2-40B4-BE49-F238E27FC236}">
                <a16:creationId xmlns:a16="http://schemas.microsoft.com/office/drawing/2014/main" id="{06A0D3BC-4819-4BAF-A693-506FD5968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9107" y="3887947"/>
            <a:ext cx="1931988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ممیزی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8384728-076C-4736-A999-5C16D39CA6CC}"/>
              </a:ext>
            </a:extLst>
          </p:cNvPr>
          <p:cNvCxnSpPr/>
          <p:nvPr/>
        </p:nvCxnSpPr>
        <p:spPr>
          <a:xfrm>
            <a:off x="5619115" y="4006850"/>
            <a:ext cx="9525" cy="318135"/>
          </a:xfrm>
          <a:prstGeom prst="straightConnector1">
            <a:avLst/>
          </a:prstGeom>
          <a:noFill/>
          <a:ln w="25400" cap="flat" cmpd="sng" algn="ctr">
            <a:solidFill>
              <a:srgbClr val="00206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F794045-BCF7-4BB9-9555-7BB79A29BE7B}"/>
              </a:ext>
            </a:extLst>
          </p:cNvPr>
          <p:cNvCxnSpPr/>
          <p:nvPr/>
        </p:nvCxnSpPr>
        <p:spPr>
          <a:xfrm>
            <a:off x="5956300" y="3981450"/>
            <a:ext cx="9525" cy="318135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5DE2AB2-3140-4848-8D0D-C9A78F6F7685}"/>
              </a:ext>
            </a:extLst>
          </p:cNvPr>
          <p:cNvCxnSpPr/>
          <p:nvPr/>
        </p:nvCxnSpPr>
        <p:spPr>
          <a:xfrm>
            <a:off x="3942080" y="2847975"/>
            <a:ext cx="871220" cy="0"/>
          </a:xfrm>
          <a:prstGeom prst="straightConnector1">
            <a:avLst/>
          </a:prstGeom>
          <a:ln w="317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192">
            <a:extLst>
              <a:ext uri="{FF2B5EF4-FFF2-40B4-BE49-F238E27FC236}">
                <a16:creationId xmlns:a16="http://schemas.microsoft.com/office/drawing/2014/main" id="{1609B9D5-9C67-4B11-8A49-B11873EED89B}"/>
              </a:ext>
            </a:extLst>
          </p:cNvPr>
          <p:cNvCxnSpPr/>
          <p:nvPr/>
        </p:nvCxnSpPr>
        <p:spPr>
          <a:xfrm flipV="1">
            <a:off x="2811780" y="1421130"/>
            <a:ext cx="1631950" cy="656590"/>
          </a:xfrm>
          <a:prstGeom prst="bentConnector3">
            <a:avLst>
              <a:gd name="adj1" fmla="val -937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195">
            <a:extLst>
              <a:ext uri="{FF2B5EF4-FFF2-40B4-BE49-F238E27FC236}">
                <a16:creationId xmlns:a16="http://schemas.microsoft.com/office/drawing/2014/main" id="{2046BD4E-BDBC-4198-85E1-7ED8368412B3}"/>
              </a:ext>
            </a:extLst>
          </p:cNvPr>
          <p:cNvCxnSpPr/>
          <p:nvPr/>
        </p:nvCxnSpPr>
        <p:spPr>
          <a:xfrm flipV="1">
            <a:off x="3977640" y="1519555"/>
            <a:ext cx="465455" cy="1183640"/>
          </a:xfrm>
          <a:prstGeom prst="bentConnector3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B57A95F3-5E6C-4057-AABD-8505C4A4B6CE}"/>
              </a:ext>
            </a:extLst>
          </p:cNvPr>
          <p:cNvSpPr/>
          <p:nvPr/>
        </p:nvSpPr>
        <p:spPr>
          <a:xfrm>
            <a:off x="4108450" y="1744980"/>
            <a:ext cx="1656715" cy="296545"/>
          </a:xfrm>
          <a:prstGeom prst="rect">
            <a:avLst/>
          </a:prstGeom>
          <a:solidFill>
            <a:sysClr val="window" lastClr="FFFFFF"/>
          </a:solidFill>
          <a:ln w="3492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79" name="Text Box 201">
            <a:extLst>
              <a:ext uri="{FF2B5EF4-FFF2-40B4-BE49-F238E27FC236}">
                <a16:creationId xmlns:a16="http://schemas.microsoft.com/office/drawing/2014/main" id="{412237A7-3A15-4CB5-B947-9A1C72FBD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8035" y="1725540"/>
            <a:ext cx="628650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پرداخت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E0842E3-F893-4ED2-9900-7DAB0DD08645}"/>
              </a:ext>
            </a:extLst>
          </p:cNvPr>
          <p:cNvSpPr/>
          <p:nvPr/>
        </p:nvSpPr>
        <p:spPr>
          <a:xfrm>
            <a:off x="2077720" y="3277235"/>
            <a:ext cx="1017905" cy="201295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1" name="Text Box 206">
            <a:extLst>
              <a:ext uri="{FF2B5EF4-FFF2-40B4-BE49-F238E27FC236}">
                <a16:creationId xmlns:a16="http://schemas.microsoft.com/office/drawing/2014/main" id="{73FCFFD9-A94B-42B4-8A9E-12F887A55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596" y="3228306"/>
            <a:ext cx="873195" cy="230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تایید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E03D27B-4D98-4B38-ABCC-FA8E74E97B67}"/>
              </a:ext>
            </a:extLst>
          </p:cNvPr>
          <p:cNvCxnSpPr/>
          <p:nvPr/>
        </p:nvCxnSpPr>
        <p:spPr>
          <a:xfrm>
            <a:off x="989965" y="2933065"/>
            <a:ext cx="767080" cy="0"/>
          </a:xfrm>
          <a:prstGeom prst="line">
            <a:avLst/>
          </a:prstGeom>
          <a:ln w="190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959AE50E-BC57-4503-9EE8-DABD78AF4F11}"/>
              </a:ext>
            </a:extLst>
          </p:cNvPr>
          <p:cNvSpPr/>
          <p:nvPr/>
        </p:nvSpPr>
        <p:spPr>
          <a:xfrm>
            <a:off x="6175375" y="4046855"/>
            <a:ext cx="1136650" cy="164465"/>
          </a:xfrm>
          <a:prstGeom prst="rect">
            <a:avLst/>
          </a:prstGeom>
          <a:solidFill>
            <a:sysClr val="window" lastClr="FFFFFF"/>
          </a:solidFill>
          <a:ln w="3492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83" name="Text Box 209">
            <a:extLst>
              <a:ext uri="{FF2B5EF4-FFF2-40B4-BE49-F238E27FC236}">
                <a16:creationId xmlns:a16="http://schemas.microsoft.com/office/drawing/2014/main" id="{57CE2B2D-CCEE-4A50-934A-AD7A41A09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818" y="3950811"/>
            <a:ext cx="628650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پرداخت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7253CAF-4F4E-4434-AB09-C90729BFF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8" name="Rectangle 114">
            <a:extLst>
              <a:ext uri="{FF2B5EF4-FFF2-40B4-BE49-F238E27FC236}">
                <a16:creationId xmlns:a16="http://schemas.microsoft.com/office/drawing/2014/main" id="{312814FB-67A5-44D0-8FCC-B9CAA7632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03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5" grpId="0" animBg="1"/>
      <p:bldP spid="49" grpId="0" animBg="1"/>
      <p:bldP spid="50" grpId="0"/>
      <p:bldP spid="61" grpId="0" animBg="1"/>
      <p:bldP spid="62" grpId="0"/>
      <p:bldP spid="64" grpId="0" animBg="1"/>
      <p:bldP spid="65" grpId="0"/>
      <p:bldP spid="66" grpId="0" animBg="1"/>
      <p:bldP spid="68" grpId="0" animBg="1"/>
      <p:bldP spid="69" grpId="0"/>
      <p:bldP spid="71" grpId="0" animBg="1"/>
      <p:bldP spid="72" grpId="0"/>
      <p:bldP spid="78" grpId="0" animBg="1"/>
      <p:bldP spid="79" grpId="0"/>
      <p:bldP spid="82" grpId="0" animBg="1"/>
      <p:bldP spid="81" grpId="0"/>
      <p:bldP spid="85" grpId="0" animBg="1"/>
      <p:bldP spid="8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74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a2</dc:creator>
  <cp:lastModifiedBy>hmd mzhr</cp:lastModifiedBy>
  <cp:revision>22</cp:revision>
  <dcterms:created xsi:type="dcterms:W3CDTF">2023-08-13T08:16:49Z</dcterms:created>
  <dcterms:modified xsi:type="dcterms:W3CDTF">2026-05-01T19:57:10Z</dcterms:modified>
</cp:coreProperties>
</file>